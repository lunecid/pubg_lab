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6"/>
    <p:restoredTop sz="79452"/>
  </p:normalViewPr>
  <p:slideViewPr>
    <p:cSldViewPr snapToGrid="0" snapToObjects="1">
      <p:cViewPr varScale="1">
        <p:scale>
          <a:sx n="100" d="100"/>
          <a:sy n="100" d="100"/>
        </p:scale>
        <p:origin x="118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49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. </a:t>
            </a:r>
            <a:r>
              <a:rPr dirty="0" err="1"/>
              <a:t>부산대학교</a:t>
            </a:r>
            <a:r>
              <a:rPr dirty="0"/>
              <a:t> </a:t>
            </a:r>
            <a:r>
              <a:rPr dirty="0" err="1"/>
              <a:t>데이터사이언스</a:t>
            </a:r>
            <a:r>
              <a:rPr dirty="0"/>
              <a:t> </a:t>
            </a:r>
            <a:r>
              <a:rPr dirty="0" err="1"/>
              <a:t>백성은입니다</a:t>
            </a:r>
            <a:r>
              <a:rPr dirty="0"/>
              <a:t>.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주제는</a:t>
            </a:r>
            <a:r>
              <a:rPr dirty="0"/>
              <a:t> 'PUBG Squad Combat Networks: Phase-Dynamic Strategy Types and </a:t>
            </a:r>
            <a:r>
              <a:rPr dirty="0" err="1"/>
              <a:t>Performance'입니다</a:t>
            </a:r>
            <a:r>
              <a:rPr dirty="0"/>
              <a:t>. 1000매치 squad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네트워크로</a:t>
            </a:r>
            <a:r>
              <a:rPr dirty="0"/>
              <a:t> </a:t>
            </a:r>
            <a:r>
              <a:rPr dirty="0" err="1"/>
              <a:t>모델링한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, </a:t>
            </a:r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위치와</a:t>
            </a:r>
            <a:r>
              <a:rPr dirty="0"/>
              <a:t>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 </a:t>
            </a:r>
            <a:r>
              <a:rPr dirty="0" err="1"/>
              <a:t>상태가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성과에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연결되는지</a:t>
            </a:r>
            <a:r>
              <a:rPr dirty="0"/>
              <a:t> </a:t>
            </a:r>
            <a:r>
              <a:rPr dirty="0" err="1"/>
              <a:t>분석한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공유드리겠습니다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배경입니다</a:t>
            </a:r>
            <a:r>
              <a:rPr dirty="0"/>
              <a:t>. </a:t>
            </a:r>
            <a:r>
              <a:rPr dirty="0" err="1"/>
              <a:t>PUBG는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100명의 </a:t>
            </a:r>
            <a:r>
              <a:rPr dirty="0" err="1"/>
              <a:t>player가</a:t>
            </a:r>
            <a:r>
              <a:rPr dirty="0"/>
              <a:t> 25개 </a:t>
            </a:r>
            <a:r>
              <a:rPr dirty="0" err="1"/>
              <a:t>squad로</a:t>
            </a:r>
            <a:r>
              <a:rPr dirty="0"/>
              <a:t> </a:t>
            </a:r>
            <a:r>
              <a:rPr dirty="0" err="1"/>
              <a:t>나뉘어</a:t>
            </a:r>
            <a:r>
              <a:rPr dirty="0"/>
              <a:t>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살아남는</a:t>
            </a:r>
            <a:r>
              <a:rPr dirty="0"/>
              <a:t> </a:t>
            </a:r>
            <a:r>
              <a:rPr dirty="0" err="1"/>
              <a:t>게임으로</a:t>
            </a:r>
            <a:r>
              <a:rPr dirty="0"/>
              <a:t>, </a:t>
            </a:r>
            <a:r>
              <a:rPr dirty="0" err="1"/>
              <a:t>안전구역이</a:t>
            </a:r>
            <a:r>
              <a:rPr dirty="0"/>
              <a:t> </a:t>
            </a:r>
            <a:r>
              <a:rPr dirty="0" err="1"/>
              <a:t>점점</a:t>
            </a:r>
            <a:r>
              <a:rPr dirty="0"/>
              <a:t> </a:t>
            </a:r>
            <a:r>
              <a:rPr dirty="0" err="1"/>
              <a:t>축소되며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교전을</a:t>
            </a:r>
            <a:r>
              <a:rPr dirty="0"/>
              <a:t> </a:t>
            </a:r>
            <a:r>
              <a:rPr dirty="0" err="1"/>
              <a:t>강제로</a:t>
            </a:r>
            <a:r>
              <a:rPr dirty="0"/>
              <a:t> </a:t>
            </a:r>
            <a:r>
              <a:rPr dirty="0" err="1"/>
              <a:t>유발하는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가집니다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사이에</a:t>
            </a:r>
            <a:r>
              <a:rPr dirty="0"/>
              <a:t> damage </a:t>
            </a:r>
            <a:r>
              <a:rPr dirty="0" err="1"/>
              <a:t>event가</a:t>
            </a:r>
            <a:r>
              <a:rPr dirty="0"/>
              <a:t> </a:t>
            </a:r>
            <a:r>
              <a:rPr dirty="0" err="1"/>
              <a:t>발생하면</a:t>
            </a:r>
            <a:r>
              <a:rPr dirty="0"/>
              <a:t> </a:t>
            </a:r>
            <a:r>
              <a:rPr dirty="0" err="1"/>
              <a:t>그것을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간의</a:t>
            </a:r>
            <a:r>
              <a:rPr dirty="0"/>
              <a:t> </a:t>
            </a:r>
            <a:r>
              <a:rPr dirty="0" err="1"/>
              <a:t>interaction으로</a:t>
            </a:r>
            <a:r>
              <a:rPr dirty="0"/>
              <a:t>,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그래프의</a:t>
            </a:r>
            <a:r>
              <a:rPr dirty="0"/>
              <a:t> </a:t>
            </a:r>
            <a:r>
              <a:rPr dirty="0" err="1"/>
              <a:t>edge로</a:t>
            </a:r>
            <a:r>
              <a:rPr dirty="0"/>
              <a:t> </a:t>
            </a:r>
            <a:r>
              <a:rPr dirty="0" err="1"/>
              <a:t>자연스럽게</a:t>
            </a:r>
            <a:r>
              <a:rPr dirty="0"/>
              <a:t> </a:t>
            </a:r>
            <a:r>
              <a:rPr dirty="0" err="1"/>
              <a:t>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팀을</a:t>
            </a:r>
            <a:r>
              <a:rPr dirty="0"/>
              <a:t> </a:t>
            </a:r>
            <a:r>
              <a:rPr dirty="0" err="1"/>
              <a:t>노드</a:t>
            </a:r>
            <a:r>
              <a:rPr dirty="0"/>
              <a:t>,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교전을</a:t>
            </a:r>
            <a:r>
              <a:rPr dirty="0"/>
              <a:t> </a:t>
            </a:r>
            <a:r>
              <a:rPr dirty="0" err="1"/>
              <a:t>엣지</a:t>
            </a:r>
            <a:r>
              <a:rPr dirty="0"/>
              <a:t>,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damage를</a:t>
            </a:r>
            <a:r>
              <a:rPr dirty="0"/>
              <a:t> </a:t>
            </a:r>
            <a:r>
              <a:rPr dirty="0" err="1"/>
              <a:t>weight으로</a:t>
            </a:r>
            <a:r>
              <a:rPr dirty="0"/>
              <a:t> </a:t>
            </a:r>
            <a:r>
              <a:rPr dirty="0" err="1"/>
              <a:t>두면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1개가 </a:t>
            </a:r>
            <a:r>
              <a:rPr dirty="0" err="1"/>
              <a:t>그래프</a:t>
            </a:r>
            <a:r>
              <a:rPr dirty="0"/>
              <a:t> 1개로 </a:t>
            </a:r>
            <a:r>
              <a:rPr dirty="0" err="1"/>
              <a:t>모델링됩니다</a:t>
            </a:r>
            <a:r>
              <a:rPr dirty="0"/>
              <a:t>. </a:t>
            </a: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연구는</a:t>
            </a:r>
            <a:r>
              <a:rPr dirty="0"/>
              <a:t> </a:t>
            </a:r>
            <a:r>
              <a:rPr dirty="0" err="1"/>
              <a:t>이렇게</a:t>
            </a:r>
            <a:r>
              <a:rPr dirty="0"/>
              <a:t> PUBG squad </a:t>
            </a:r>
            <a:r>
              <a:rPr dirty="0" err="1"/>
              <a:t>매치를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combat </a:t>
            </a:r>
            <a:r>
              <a:rPr dirty="0" err="1"/>
              <a:t>network로</a:t>
            </a:r>
            <a:r>
              <a:rPr dirty="0"/>
              <a:t> </a:t>
            </a:r>
            <a:r>
              <a:rPr dirty="0" err="1"/>
              <a:t>모델링한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, </a:t>
            </a:r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위치가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순위와</a:t>
            </a:r>
            <a:r>
              <a:rPr dirty="0"/>
              <a:t> </a:t>
            </a:r>
            <a:r>
              <a:rPr dirty="0" err="1"/>
              <a:t>경쟁전</a:t>
            </a:r>
            <a:r>
              <a:rPr dirty="0"/>
              <a:t> </a:t>
            </a:r>
            <a:r>
              <a:rPr dirty="0" err="1"/>
              <a:t>점수와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연결되는지를</a:t>
            </a:r>
            <a:r>
              <a:rPr dirty="0"/>
              <a:t> </a:t>
            </a:r>
            <a:r>
              <a:rPr dirty="0" err="1"/>
              <a:t>분석합니다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</a:t>
            </a:r>
            <a:r>
              <a:rPr dirty="0" err="1"/>
              <a:t>출발점인</a:t>
            </a:r>
            <a:r>
              <a:rPr dirty="0"/>
              <a:t> </a:t>
            </a:r>
            <a:r>
              <a:rPr dirty="0" err="1"/>
              <a:t>사공</a:t>
            </a:r>
            <a:r>
              <a:rPr dirty="0"/>
              <a:t> </a:t>
            </a:r>
            <a:r>
              <a:rPr dirty="0" err="1"/>
              <a:t>외</a:t>
            </a:r>
            <a:r>
              <a:rPr dirty="0"/>
              <a:t> 2025년 Entertainment Computing </a:t>
            </a:r>
            <a:r>
              <a:rPr dirty="0" err="1"/>
              <a:t>논문을</a:t>
            </a:r>
            <a:r>
              <a:rPr dirty="0"/>
              <a:t> </a:t>
            </a:r>
            <a:r>
              <a:rPr dirty="0" err="1"/>
              <a:t>자세히</a:t>
            </a:r>
            <a:r>
              <a:rPr dirty="0"/>
              <a:t> </a:t>
            </a:r>
            <a:r>
              <a:rPr dirty="0" err="1"/>
              <a:t>설명드립니다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PUBG의</a:t>
            </a:r>
            <a:r>
              <a:rPr dirty="0"/>
              <a:t> </a:t>
            </a:r>
            <a:r>
              <a:rPr dirty="0" err="1"/>
              <a:t>매</a:t>
            </a:r>
            <a:r>
              <a:rPr dirty="0"/>
              <a:t> </a:t>
            </a:r>
            <a:r>
              <a:rPr dirty="0" err="1"/>
              <a:t>phase마다</a:t>
            </a:r>
            <a:r>
              <a:rPr dirty="0"/>
              <a:t> </a:t>
            </a:r>
            <a:r>
              <a:rPr dirty="0" err="1"/>
              <a:t>player를</a:t>
            </a:r>
            <a:r>
              <a:rPr dirty="0"/>
              <a:t> 4가지 </a:t>
            </a:r>
            <a:r>
              <a:rPr dirty="0" err="1"/>
              <a:t>유형으로</a:t>
            </a:r>
            <a:r>
              <a:rPr dirty="0"/>
              <a:t> </a:t>
            </a:r>
            <a:r>
              <a:rPr dirty="0" err="1"/>
              <a:t>분류하고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phase </a:t>
            </a:r>
            <a:r>
              <a:rPr dirty="0" err="1"/>
              <a:t>생존을</a:t>
            </a:r>
            <a:r>
              <a:rPr dirty="0"/>
              <a:t> </a:t>
            </a:r>
            <a:r>
              <a:rPr dirty="0" err="1"/>
              <a:t>예측하는</a:t>
            </a:r>
            <a:r>
              <a:rPr dirty="0"/>
              <a:t> </a:t>
            </a:r>
            <a:r>
              <a:rPr dirty="0" err="1"/>
              <a:t>framework입니다</a:t>
            </a:r>
            <a:r>
              <a:rPr dirty="0"/>
              <a:t>.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개념은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점수입니다</a:t>
            </a:r>
            <a:r>
              <a:rPr dirty="0"/>
              <a:t>. </a:t>
            </a:r>
            <a:r>
              <a:rPr dirty="0" err="1"/>
              <a:t>FightScore는</a:t>
            </a:r>
            <a:r>
              <a:rPr dirty="0"/>
              <a:t> </a:t>
            </a:r>
            <a:r>
              <a:rPr dirty="0" err="1"/>
              <a:t>player의</a:t>
            </a:r>
            <a:r>
              <a:rPr dirty="0"/>
              <a:t> </a:t>
            </a:r>
            <a:r>
              <a:rPr dirty="0" err="1"/>
              <a:t>공격성을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4개 feature, </a:t>
            </a:r>
            <a:r>
              <a:rPr dirty="0" err="1"/>
              <a:t>phase_attack_count</a:t>
            </a:r>
            <a:r>
              <a:rPr dirty="0"/>
              <a:t>, </a:t>
            </a:r>
            <a:r>
              <a:rPr dirty="0" err="1"/>
              <a:t>phase_kill_count</a:t>
            </a:r>
            <a:r>
              <a:rPr dirty="0"/>
              <a:t>, </a:t>
            </a:r>
            <a:r>
              <a:rPr dirty="0" err="1"/>
              <a:t>phase_total_damage</a:t>
            </a:r>
            <a:r>
              <a:rPr dirty="0"/>
              <a:t>, </a:t>
            </a:r>
            <a:r>
              <a:rPr dirty="0" err="1"/>
              <a:t>phase_assist_count의</a:t>
            </a:r>
            <a:r>
              <a:rPr dirty="0"/>
              <a:t> </a:t>
            </a:r>
            <a:r>
              <a:rPr dirty="0" err="1"/>
              <a:t>합입니다</a:t>
            </a:r>
            <a:r>
              <a:rPr dirty="0"/>
              <a:t>. </a:t>
            </a:r>
            <a:r>
              <a:rPr dirty="0" err="1"/>
              <a:t>ActiveScore는</a:t>
            </a:r>
            <a:r>
              <a:rPr dirty="0"/>
              <a:t> </a:t>
            </a:r>
            <a:r>
              <a:rPr dirty="0" err="1"/>
              <a:t>활동성을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4개 feature, distance </a:t>
            </a:r>
            <a:r>
              <a:rPr dirty="0" err="1"/>
              <a:t>즉</a:t>
            </a:r>
            <a:r>
              <a:rPr dirty="0"/>
              <a:t> phase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이동거리</a:t>
            </a:r>
            <a:r>
              <a:rPr dirty="0"/>
              <a:t>, </a:t>
            </a:r>
            <a:r>
              <a:rPr dirty="0" err="1"/>
              <a:t>phase_max_density</a:t>
            </a:r>
            <a:r>
              <a:rPr dirty="0"/>
              <a:t> </a:t>
            </a:r>
            <a:r>
              <a:rPr dirty="0" err="1"/>
              <a:t>즉</a:t>
            </a:r>
            <a:r>
              <a:rPr dirty="0"/>
              <a:t> 100미터 </a:t>
            </a:r>
            <a:r>
              <a:rPr dirty="0" err="1"/>
              <a:t>내</a:t>
            </a:r>
            <a:r>
              <a:rPr dirty="0"/>
              <a:t> player </a:t>
            </a:r>
            <a:r>
              <a:rPr dirty="0" err="1"/>
              <a:t>밀도</a:t>
            </a:r>
            <a:r>
              <a:rPr dirty="0"/>
              <a:t>, </a:t>
            </a:r>
            <a:r>
              <a:rPr dirty="0" err="1"/>
              <a:t>phase_item_count</a:t>
            </a:r>
            <a:r>
              <a:rPr dirty="0"/>
              <a:t>, </a:t>
            </a:r>
            <a:r>
              <a:rPr dirty="0" err="1"/>
              <a:t>carepackage_use의</a:t>
            </a:r>
            <a:r>
              <a:rPr dirty="0"/>
              <a:t> </a:t>
            </a:r>
            <a:r>
              <a:rPr dirty="0" err="1"/>
              <a:t>합입니다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점수를</a:t>
            </a:r>
            <a:r>
              <a:rPr dirty="0"/>
              <a:t> phase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평균을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high/</a:t>
            </a:r>
            <a:r>
              <a:rPr dirty="0" err="1"/>
              <a:t>low로</a:t>
            </a:r>
            <a:r>
              <a:rPr dirty="0"/>
              <a:t> </a:t>
            </a:r>
            <a:r>
              <a:rPr dirty="0" err="1"/>
              <a:t>나누면</a:t>
            </a:r>
            <a:r>
              <a:rPr dirty="0"/>
              <a:t> 2×2 </a:t>
            </a:r>
            <a:r>
              <a:rPr dirty="0" err="1"/>
              <a:t>사분면이</a:t>
            </a:r>
            <a:r>
              <a:rPr dirty="0"/>
              <a:t> </a:t>
            </a:r>
            <a:r>
              <a:rPr dirty="0" err="1"/>
              <a:t>만들어지고</a:t>
            </a:r>
            <a:r>
              <a:rPr dirty="0"/>
              <a:t> 4유형이 </a:t>
            </a:r>
            <a:r>
              <a:rPr dirty="0" err="1"/>
              <a:t>자연스럽게</a:t>
            </a:r>
            <a:r>
              <a:rPr dirty="0"/>
              <a:t> </a:t>
            </a:r>
            <a:r>
              <a:rPr dirty="0" err="1"/>
              <a:t>정의됩니다</a:t>
            </a:r>
            <a:r>
              <a:rPr dirty="0"/>
              <a:t>. </a:t>
            </a:r>
            <a:r>
              <a:rPr dirty="0" err="1"/>
              <a:t>Hunter는</a:t>
            </a:r>
            <a:r>
              <a:rPr dirty="0"/>
              <a:t> </a:t>
            </a:r>
            <a:r>
              <a:rPr dirty="0" err="1"/>
              <a:t>fight·active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높아</a:t>
            </a:r>
            <a:r>
              <a:rPr dirty="0"/>
              <a:t> </a:t>
            </a:r>
            <a:r>
              <a:rPr dirty="0" err="1"/>
              <a:t>공격적이며</a:t>
            </a:r>
            <a:r>
              <a:rPr dirty="0"/>
              <a:t> </a:t>
            </a:r>
            <a:r>
              <a:rPr dirty="0" err="1"/>
              <a:t>잘</a:t>
            </a:r>
            <a:r>
              <a:rPr dirty="0"/>
              <a:t> </a:t>
            </a:r>
            <a:r>
              <a:rPr dirty="0" err="1"/>
              <a:t>움직이는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, </a:t>
            </a:r>
            <a:r>
              <a:rPr dirty="0" err="1"/>
              <a:t>Sniper는</a:t>
            </a:r>
            <a:r>
              <a:rPr dirty="0"/>
              <a:t> </a:t>
            </a:r>
            <a:r>
              <a:rPr dirty="0" err="1"/>
              <a:t>fight는</a:t>
            </a:r>
            <a:r>
              <a:rPr dirty="0"/>
              <a:t> </a:t>
            </a:r>
            <a:r>
              <a:rPr dirty="0" err="1"/>
              <a:t>높지만</a:t>
            </a:r>
            <a:r>
              <a:rPr dirty="0"/>
              <a:t> </a:t>
            </a:r>
            <a:r>
              <a:rPr dirty="0" err="1"/>
              <a:t>active가</a:t>
            </a:r>
            <a:r>
              <a:rPr dirty="0"/>
              <a:t> </a:t>
            </a:r>
            <a:r>
              <a:rPr dirty="0" err="1"/>
              <a:t>낮아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자리에서</a:t>
            </a:r>
            <a:r>
              <a:rPr dirty="0"/>
              <a:t> </a:t>
            </a:r>
            <a:r>
              <a:rPr dirty="0" err="1"/>
              <a:t>교전하는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, </a:t>
            </a:r>
            <a:r>
              <a:rPr dirty="0" err="1"/>
              <a:t>Traveler는</a:t>
            </a:r>
            <a:r>
              <a:rPr dirty="0"/>
              <a:t> </a:t>
            </a:r>
            <a:r>
              <a:rPr dirty="0" err="1"/>
              <a:t>active만</a:t>
            </a:r>
            <a:r>
              <a:rPr dirty="0"/>
              <a:t> </a:t>
            </a:r>
            <a:r>
              <a:rPr dirty="0" err="1"/>
              <a:t>높아</a:t>
            </a:r>
            <a:r>
              <a:rPr dirty="0"/>
              <a:t> </a:t>
            </a:r>
            <a:r>
              <a:rPr dirty="0" err="1"/>
              <a:t>잘</a:t>
            </a:r>
            <a:r>
              <a:rPr dirty="0"/>
              <a:t> </a:t>
            </a:r>
            <a:r>
              <a:rPr dirty="0" err="1"/>
              <a:t>움직이며</a:t>
            </a:r>
            <a:r>
              <a:rPr dirty="0"/>
              <a:t> </a:t>
            </a:r>
            <a:r>
              <a:rPr dirty="0" err="1"/>
              <a:t>교전을</a:t>
            </a:r>
            <a:r>
              <a:rPr dirty="0"/>
              <a:t> </a:t>
            </a:r>
            <a:r>
              <a:rPr dirty="0" err="1"/>
              <a:t>피하는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, </a:t>
            </a:r>
            <a:r>
              <a:rPr dirty="0" err="1"/>
              <a:t>Camper는</a:t>
            </a:r>
            <a:r>
              <a:rPr dirty="0"/>
              <a:t>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낮아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자리에서</a:t>
            </a:r>
            <a:r>
              <a:rPr dirty="0"/>
              <a:t> </a:t>
            </a:r>
            <a:r>
              <a:rPr dirty="0" err="1"/>
              <a:t>교전을</a:t>
            </a:r>
            <a:r>
              <a:rPr dirty="0"/>
              <a:t> </a:t>
            </a:r>
            <a:r>
              <a:rPr dirty="0" err="1"/>
              <a:t>회피하는</a:t>
            </a:r>
            <a:r>
              <a:rPr dirty="0"/>
              <a:t> </a:t>
            </a:r>
            <a:r>
              <a:rPr dirty="0" err="1"/>
              <a:t>유형입니다</a:t>
            </a:r>
            <a:r>
              <a:rPr dirty="0"/>
              <a:t>. Random Forest, Logistic Regression, </a:t>
            </a:r>
            <a:r>
              <a:rPr dirty="0" err="1"/>
              <a:t>XGBoost로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phase </a:t>
            </a:r>
            <a:r>
              <a:rPr dirty="0" err="1"/>
              <a:t>생존을</a:t>
            </a:r>
            <a:r>
              <a:rPr dirty="0"/>
              <a:t> </a:t>
            </a:r>
            <a:r>
              <a:rPr dirty="0" err="1"/>
              <a:t>예측했고</a:t>
            </a:r>
            <a:r>
              <a:rPr dirty="0"/>
              <a:t>, </a:t>
            </a:r>
            <a:r>
              <a:rPr dirty="0" err="1"/>
              <a:t>XGBoost가</a:t>
            </a:r>
            <a:r>
              <a:rPr dirty="0"/>
              <a:t> 87.9%로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정확도를</a:t>
            </a:r>
            <a:r>
              <a:rPr dirty="0"/>
              <a:t> </a:t>
            </a:r>
            <a:r>
              <a:rPr dirty="0" err="1"/>
              <a:t>냈습니다</a:t>
            </a:r>
            <a:r>
              <a:rPr dirty="0"/>
              <a:t>.</a:t>
            </a:r>
            <a:r>
              <a:rPr lang="ko-KR" altLang="en-US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사공</a:t>
            </a:r>
            <a:r>
              <a:rPr dirty="0"/>
              <a:t> </a:t>
            </a:r>
            <a:r>
              <a:rPr dirty="0" err="1"/>
              <a:t>외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4유형 </a:t>
            </a:r>
            <a:r>
              <a:rPr dirty="0" err="1"/>
              <a:t>taxonomy를</a:t>
            </a:r>
            <a:r>
              <a:rPr dirty="0"/>
              <a:t> </a:t>
            </a: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연구는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가져옵니다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축으로</a:t>
            </a:r>
            <a:r>
              <a:rPr dirty="0"/>
              <a:t> </a:t>
            </a:r>
            <a:r>
              <a:rPr dirty="0" err="1"/>
              <a:t>확장했습니다</a:t>
            </a:r>
            <a:r>
              <a:rPr dirty="0"/>
              <a:t>. </a:t>
            </a:r>
            <a:r>
              <a:rPr dirty="0" err="1"/>
              <a:t>UNIT은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단위를</a:t>
            </a:r>
            <a:r>
              <a:rPr dirty="0"/>
              <a:t> </a:t>
            </a:r>
            <a:r>
              <a:rPr dirty="0" err="1"/>
              <a:t>player에서</a:t>
            </a:r>
            <a:r>
              <a:rPr dirty="0"/>
              <a:t> </a:t>
            </a:r>
            <a:r>
              <a:rPr dirty="0" err="1"/>
              <a:t>team으로</a:t>
            </a:r>
            <a:r>
              <a:rPr dirty="0"/>
              <a:t>, </a:t>
            </a:r>
            <a:r>
              <a:rPr dirty="0" err="1"/>
              <a:t>SOURCE는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Kaggle post-game </a:t>
            </a:r>
            <a:r>
              <a:rPr dirty="0" err="1"/>
              <a:t>통계에서</a:t>
            </a:r>
            <a:r>
              <a:rPr lang="en-US" dirty="0"/>
              <a:t> </a:t>
            </a:r>
            <a:r>
              <a:rPr lang="ko-KR" altLang="en-US" dirty="0"/>
              <a:t>공식 </a:t>
            </a:r>
            <a:r>
              <a:rPr lang="en-US" altLang="ko-KR" dirty="0"/>
              <a:t>API</a:t>
            </a:r>
            <a:r>
              <a:rPr lang="ko-KR" altLang="en-US" dirty="0"/>
              <a:t>의</a:t>
            </a:r>
            <a:r>
              <a:rPr dirty="0"/>
              <a:t> telemetry 10초 </a:t>
            </a:r>
            <a:r>
              <a:rPr dirty="0" err="1"/>
              <a:t>해상도로</a:t>
            </a:r>
            <a:r>
              <a:rPr dirty="0"/>
              <a:t>, </a:t>
            </a:r>
            <a:r>
              <a:rPr dirty="0" err="1"/>
              <a:t>FEATURES는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집계</a:t>
            </a:r>
            <a:r>
              <a:rPr dirty="0"/>
              <a:t> </a:t>
            </a:r>
            <a:r>
              <a:rPr dirty="0" err="1"/>
              <a:t>통계가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Louvain </a:t>
            </a:r>
            <a:r>
              <a:rPr dirty="0" err="1"/>
              <a:t>community와</a:t>
            </a:r>
            <a:r>
              <a:rPr dirty="0"/>
              <a:t> PageRank, battle bridge </a:t>
            </a:r>
            <a:r>
              <a:rPr dirty="0" err="1"/>
              <a:t>같은</a:t>
            </a:r>
            <a:r>
              <a:rPr dirty="0"/>
              <a:t> network </a:t>
            </a:r>
            <a:r>
              <a:rPr dirty="0" err="1"/>
              <a:t>지표로</a:t>
            </a:r>
            <a:r>
              <a:rPr dirty="0"/>
              <a:t>, </a:t>
            </a:r>
            <a:r>
              <a:rPr dirty="0" err="1"/>
              <a:t>STRATEGY는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정적</a:t>
            </a:r>
            <a:r>
              <a:rPr dirty="0"/>
              <a:t> </a:t>
            </a:r>
            <a:r>
              <a:rPr dirty="0" err="1"/>
              <a:t>유형이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phase별로</a:t>
            </a:r>
            <a:r>
              <a:rPr dirty="0"/>
              <a:t> </a:t>
            </a:r>
            <a:r>
              <a:rPr dirty="0" err="1"/>
              <a:t>바뀌는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state로</a:t>
            </a:r>
            <a:r>
              <a:rPr dirty="0"/>
              <a:t> </a:t>
            </a:r>
            <a:r>
              <a:rPr dirty="0" err="1"/>
              <a:t>확장했습니다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확장</a:t>
            </a:r>
            <a:r>
              <a:rPr dirty="0"/>
              <a:t> </a:t>
            </a:r>
            <a:r>
              <a:rPr dirty="0" err="1"/>
              <a:t>위에서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질문을</a:t>
            </a:r>
            <a:r>
              <a:rPr dirty="0"/>
              <a:t> </a:t>
            </a:r>
            <a:r>
              <a:rPr dirty="0" err="1"/>
              <a:t>설정했습니다</a:t>
            </a:r>
            <a:r>
              <a:rPr dirty="0"/>
              <a:t>. RQ1, </a:t>
            </a:r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위치가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순위를</a:t>
            </a:r>
            <a:r>
              <a:rPr dirty="0"/>
              <a:t> </a:t>
            </a:r>
            <a:r>
              <a:rPr dirty="0" err="1"/>
              <a:t>예측하는가</a:t>
            </a:r>
            <a:r>
              <a:rPr dirty="0"/>
              <a:t>. RQ2, </a:t>
            </a:r>
            <a:r>
              <a:rPr dirty="0" err="1"/>
              <a:t>hotzone</a:t>
            </a:r>
            <a:r>
              <a:rPr dirty="0"/>
              <a:t> </a:t>
            </a:r>
            <a:r>
              <a:rPr dirty="0" err="1"/>
              <a:t>착륙</a:t>
            </a:r>
            <a:r>
              <a:rPr dirty="0"/>
              <a:t>,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, </a:t>
            </a:r>
            <a:r>
              <a:rPr dirty="0" err="1"/>
              <a:t>이동성에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ST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정식</a:t>
            </a:r>
            <a:r>
              <a:rPr dirty="0"/>
              <a:t> </a:t>
            </a:r>
            <a:r>
              <a:rPr dirty="0" err="1"/>
              <a:t>검정합니다</a:t>
            </a:r>
            <a:r>
              <a:rPr dirty="0"/>
              <a:t>. RQ3, 4유형이 </a:t>
            </a:r>
            <a:r>
              <a:rPr dirty="0" err="1"/>
              <a:t>phase별로</a:t>
            </a:r>
            <a:r>
              <a:rPr dirty="0"/>
              <a:t> </a:t>
            </a:r>
            <a:r>
              <a:rPr dirty="0" err="1"/>
              <a:t>바뀌는</a:t>
            </a:r>
            <a:r>
              <a:rPr dirty="0"/>
              <a:t> </a:t>
            </a:r>
            <a:r>
              <a:rPr dirty="0" err="1"/>
              <a:t>state로</a:t>
            </a:r>
            <a:r>
              <a:rPr dirty="0"/>
              <a:t> </a:t>
            </a:r>
            <a:r>
              <a:rPr dirty="0" err="1"/>
              <a:t>재정의될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있는가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질문이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슬라이드들의</a:t>
            </a:r>
            <a:r>
              <a:rPr dirty="0"/>
              <a:t> </a:t>
            </a:r>
            <a:r>
              <a:rPr dirty="0" err="1"/>
              <a:t>분석을</a:t>
            </a:r>
            <a:r>
              <a:rPr dirty="0"/>
              <a:t> </a:t>
            </a:r>
            <a:r>
              <a:rPr dirty="0" err="1"/>
              <a:t>안내합니다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Baltic_Main</a:t>
            </a:r>
            <a:r>
              <a:rPr dirty="0"/>
              <a:t> squad </a:t>
            </a:r>
            <a:r>
              <a:rPr dirty="0" err="1"/>
              <a:t>모드</a:t>
            </a:r>
            <a:r>
              <a:rPr dirty="0"/>
              <a:t> 1000매치를 </a:t>
            </a:r>
            <a:r>
              <a:rPr dirty="0" err="1"/>
              <a:t>사용했습니다</a:t>
            </a:r>
            <a:r>
              <a:rPr dirty="0"/>
              <a:t>. </a:t>
            </a:r>
            <a:r>
              <a:rPr dirty="0" err="1"/>
              <a:t>총</a:t>
            </a:r>
            <a:r>
              <a:rPr dirty="0"/>
              <a:t> 26,513개의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노드와</a:t>
            </a:r>
            <a:r>
              <a:rPr dirty="0"/>
              <a:t> 57,174개의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엣지가</a:t>
            </a:r>
            <a:r>
              <a:rPr dirty="0"/>
              <a:t> </a:t>
            </a:r>
            <a:r>
              <a:rPr dirty="0" err="1"/>
              <a:t>만들어졌고</a:t>
            </a:r>
            <a:r>
              <a:rPr dirty="0"/>
              <a:t>, 10초 </a:t>
            </a:r>
            <a:r>
              <a:rPr dirty="0" err="1"/>
              <a:t>간격</a:t>
            </a:r>
            <a:r>
              <a:rPr dirty="0"/>
              <a:t> ST </a:t>
            </a:r>
            <a:r>
              <a:rPr dirty="0" err="1"/>
              <a:t>centroid는</a:t>
            </a:r>
            <a:r>
              <a:rPr dirty="0"/>
              <a:t> 73만 4천 row, </a:t>
            </a:r>
            <a:r>
              <a:rPr dirty="0" err="1"/>
              <a:t>phase별</a:t>
            </a:r>
            <a:r>
              <a:rPr dirty="0"/>
              <a:t> dynamic </a:t>
            </a:r>
            <a:r>
              <a:rPr dirty="0" err="1"/>
              <a:t>분석을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team-phase </a:t>
            </a:r>
            <a:r>
              <a:rPr dirty="0" err="1"/>
              <a:t>row는</a:t>
            </a:r>
            <a:r>
              <a:rPr dirty="0"/>
              <a:t> 7만 4천여 </a:t>
            </a:r>
            <a:r>
              <a:rPr dirty="0" err="1"/>
              <a:t>개입니다</a:t>
            </a:r>
            <a:r>
              <a:rPr dirty="0"/>
              <a:t>. </a:t>
            </a:r>
            <a:r>
              <a:rPr dirty="0" err="1"/>
              <a:t>엣지</a:t>
            </a:r>
            <a:r>
              <a:rPr dirty="0"/>
              <a:t> </a:t>
            </a:r>
            <a:r>
              <a:rPr dirty="0" err="1"/>
              <a:t>weight은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사이의</a:t>
            </a:r>
            <a:r>
              <a:rPr dirty="0"/>
              <a:t>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damage이며</a:t>
            </a:r>
            <a:r>
              <a:rPr dirty="0"/>
              <a:t>,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그래프와</a:t>
            </a:r>
            <a:r>
              <a:rPr dirty="0"/>
              <a:t>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종류를</a:t>
            </a:r>
            <a:r>
              <a:rPr dirty="0"/>
              <a:t> </a:t>
            </a:r>
            <a:r>
              <a:rPr dirty="0" err="1"/>
              <a:t>구축했습니다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정식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정의입니다</a:t>
            </a:r>
            <a:r>
              <a:rPr dirty="0"/>
              <a:t>. </a:t>
            </a:r>
            <a:r>
              <a:rPr dirty="0" err="1"/>
              <a:t>노드는</a:t>
            </a:r>
            <a:r>
              <a:rPr dirty="0"/>
              <a:t> </a:t>
            </a:r>
            <a:r>
              <a:rPr dirty="0" err="1"/>
              <a:t>team_id</a:t>
            </a:r>
            <a:r>
              <a:rPr dirty="0"/>
              <a:t> × </a:t>
            </a:r>
            <a:r>
              <a:rPr dirty="0" err="1"/>
              <a:t>match_id</a:t>
            </a:r>
            <a:r>
              <a:rPr dirty="0"/>
              <a:t>,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노드입니다</a:t>
            </a:r>
            <a:r>
              <a:rPr dirty="0"/>
              <a:t>. </a:t>
            </a:r>
            <a:r>
              <a:rPr dirty="0" err="1"/>
              <a:t>엣지는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사이에</a:t>
            </a:r>
            <a:r>
              <a:rPr dirty="0"/>
              <a:t> damage </a:t>
            </a:r>
            <a:r>
              <a:rPr dirty="0" err="1"/>
              <a:t>event가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번이라도</a:t>
            </a:r>
            <a:r>
              <a:rPr dirty="0"/>
              <a:t> </a:t>
            </a:r>
            <a:r>
              <a:rPr dirty="0" err="1"/>
              <a:t>관측되면</a:t>
            </a:r>
            <a:r>
              <a:rPr dirty="0"/>
              <a:t> </a:t>
            </a:r>
            <a:r>
              <a:rPr dirty="0" err="1"/>
              <a:t>무방향으로</a:t>
            </a:r>
            <a:r>
              <a:rPr dirty="0"/>
              <a:t> </a:t>
            </a:r>
            <a:r>
              <a:rPr dirty="0" err="1"/>
              <a:t>연결합니다</a:t>
            </a:r>
            <a:r>
              <a:rPr dirty="0"/>
              <a:t>. </a:t>
            </a:r>
            <a:r>
              <a:rPr dirty="0" err="1"/>
              <a:t>방향은</a:t>
            </a:r>
            <a:r>
              <a:rPr dirty="0"/>
              <a:t> </a:t>
            </a:r>
            <a:r>
              <a:rPr dirty="0" err="1"/>
              <a:t>두지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 </a:t>
            </a:r>
            <a:r>
              <a:rPr dirty="0" err="1"/>
              <a:t>누가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공격했는지가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관계에</a:t>
            </a:r>
            <a:r>
              <a:rPr dirty="0"/>
              <a:t> </a:t>
            </a:r>
            <a:r>
              <a:rPr dirty="0" err="1"/>
              <a:t>묶였는지를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위함이죠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damage, </a:t>
            </a:r>
            <a:r>
              <a:rPr dirty="0" err="1"/>
              <a:t>bluezone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피해</a:t>
            </a:r>
            <a:r>
              <a:rPr dirty="0"/>
              <a:t>, attacker </a:t>
            </a:r>
            <a:r>
              <a:rPr dirty="0" err="1"/>
              <a:t>매핑이</a:t>
            </a:r>
            <a:r>
              <a:rPr dirty="0"/>
              <a:t> </a:t>
            </a:r>
            <a:r>
              <a:rPr dirty="0" err="1"/>
              <a:t>안</a:t>
            </a:r>
            <a:r>
              <a:rPr dirty="0"/>
              <a:t>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event는</a:t>
            </a:r>
            <a:r>
              <a:rPr dirty="0"/>
              <a:t> </a:t>
            </a:r>
            <a:r>
              <a:rPr dirty="0" err="1"/>
              <a:t>제외했습니다</a:t>
            </a:r>
            <a:r>
              <a:rPr dirty="0"/>
              <a:t>. </a:t>
            </a:r>
            <a:r>
              <a:rPr dirty="0" err="1"/>
              <a:t>Weight은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사이의</a:t>
            </a:r>
            <a:r>
              <a:rPr dirty="0"/>
              <a:t>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damage이고</a:t>
            </a:r>
            <a:r>
              <a:rPr dirty="0"/>
              <a:t> </a:t>
            </a:r>
            <a:r>
              <a:rPr dirty="0" err="1"/>
              <a:t>보조적으로</a:t>
            </a:r>
            <a:r>
              <a:rPr dirty="0"/>
              <a:t> event </a:t>
            </a:r>
            <a:r>
              <a:rPr dirty="0" err="1"/>
              <a:t>횟수도</a:t>
            </a:r>
            <a:r>
              <a:rPr dirty="0"/>
              <a:t> </a:t>
            </a:r>
            <a:r>
              <a:rPr dirty="0" err="1"/>
              <a:t>사용합니다</a:t>
            </a:r>
            <a:r>
              <a:rPr dirty="0"/>
              <a:t>.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분석에서는</a:t>
            </a:r>
            <a:r>
              <a:rPr dirty="0"/>
              <a:t> </a:t>
            </a:r>
            <a:r>
              <a:rPr dirty="0" err="1"/>
              <a:t>노드</a:t>
            </a:r>
            <a:r>
              <a:rPr dirty="0"/>
              <a:t> </a:t>
            </a:r>
            <a:r>
              <a:rPr dirty="0" err="1"/>
              <a:t>정의를</a:t>
            </a:r>
            <a:r>
              <a:rPr dirty="0"/>
              <a:t> team × match × </a:t>
            </a:r>
            <a:r>
              <a:rPr dirty="0" err="1"/>
              <a:t>phase로</a:t>
            </a:r>
            <a:r>
              <a:rPr dirty="0"/>
              <a:t> </a:t>
            </a:r>
            <a:r>
              <a:rPr dirty="0" err="1"/>
              <a:t>확장합니다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팀이라도</a:t>
            </a:r>
            <a:r>
              <a:rPr dirty="0"/>
              <a:t> phase 1, 2, 3에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살아있다면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노드로</a:t>
            </a:r>
            <a:r>
              <a:rPr dirty="0"/>
              <a:t> </a:t>
            </a:r>
            <a:r>
              <a:rPr dirty="0" err="1"/>
              <a:t>들어가고</a:t>
            </a:r>
            <a:r>
              <a:rPr dirty="0"/>
              <a:t>, </a:t>
            </a:r>
            <a:r>
              <a:rPr dirty="0" err="1"/>
              <a:t>엣지는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phase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구간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damage </a:t>
            </a:r>
            <a:r>
              <a:rPr dirty="0" err="1"/>
              <a:t>event로만</a:t>
            </a:r>
            <a:r>
              <a:rPr dirty="0"/>
              <a:t> </a:t>
            </a:r>
            <a:r>
              <a:rPr dirty="0" err="1"/>
              <a:t>만듭니다</a:t>
            </a:r>
            <a:r>
              <a:rPr dirty="0"/>
              <a:t>. </a:t>
            </a:r>
            <a:r>
              <a:rPr dirty="0" err="1"/>
              <a:t>총</a:t>
            </a:r>
            <a:r>
              <a:rPr dirty="0"/>
              <a:t> 7만 4천여 </a:t>
            </a:r>
            <a:r>
              <a:rPr dirty="0" err="1"/>
              <a:t>개의</a:t>
            </a:r>
            <a:r>
              <a:rPr dirty="0"/>
              <a:t> team-phase </a:t>
            </a:r>
            <a:r>
              <a:rPr dirty="0" err="1"/>
              <a:t>노드가</a:t>
            </a:r>
            <a:r>
              <a:rPr dirty="0"/>
              <a:t> phase </a:t>
            </a:r>
            <a:r>
              <a:rPr dirty="0" err="1"/>
              <a:t>그래프를</a:t>
            </a:r>
            <a:r>
              <a:rPr dirty="0"/>
              <a:t> </a:t>
            </a:r>
            <a:r>
              <a:rPr dirty="0" err="1"/>
              <a:t>구성합니다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슬라이드에서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개념들을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정리합니다</a:t>
            </a:r>
            <a:r>
              <a:rPr dirty="0"/>
              <a:t>. </a:t>
            </a:r>
            <a:r>
              <a:rPr dirty="0" err="1"/>
              <a:t>Degree는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교전한</a:t>
            </a:r>
            <a:r>
              <a:rPr dirty="0"/>
              <a:t> </a:t>
            </a:r>
            <a:r>
              <a:rPr dirty="0" err="1"/>
              <a:t>상대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수입니다</a:t>
            </a:r>
            <a:r>
              <a:rPr dirty="0"/>
              <a:t>. Betweenness </a:t>
            </a:r>
            <a:r>
              <a:rPr dirty="0" err="1"/>
              <a:t>centrality는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노드</a:t>
            </a:r>
            <a:r>
              <a:rPr dirty="0"/>
              <a:t> </a:t>
            </a:r>
            <a:r>
              <a:rPr dirty="0" err="1"/>
              <a:t>사이</a:t>
            </a:r>
            <a:r>
              <a:rPr dirty="0"/>
              <a:t> </a:t>
            </a:r>
            <a:r>
              <a:rPr dirty="0" err="1"/>
              <a:t>최단</a:t>
            </a:r>
            <a:r>
              <a:rPr dirty="0"/>
              <a:t> </a:t>
            </a:r>
            <a:r>
              <a:rPr dirty="0" err="1"/>
              <a:t>경로에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자주</a:t>
            </a:r>
            <a:r>
              <a:rPr dirty="0"/>
              <a:t> </a:t>
            </a:r>
            <a:r>
              <a:rPr dirty="0" err="1"/>
              <a:t>등장하는지</a:t>
            </a:r>
            <a:r>
              <a:rPr dirty="0"/>
              <a:t> </a:t>
            </a:r>
            <a:r>
              <a:rPr dirty="0" err="1"/>
              <a:t>측정하는</a:t>
            </a:r>
            <a:r>
              <a:rPr dirty="0"/>
              <a:t> </a:t>
            </a:r>
            <a:r>
              <a:rPr dirty="0" err="1"/>
              <a:t>지표로</a:t>
            </a:r>
            <a:r>
              <a:rPr dirty="0"/>
              <a:t>, </a:t>
            </a:r>
            <a:r>
              <a:rPr dirty="0" err="1"/>
              <a:t>PUBG에서는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교전권</a:t>
            </a:r>
            <a:r>
              <a:rPr dirty="0"/>
              <a:t> </a:t>
            </a:r>
            <a:r>
              <a:rPr dirty="0" err="1"/>
              <a:t>사이를</a:t>
            </a:r>
            <a:r>
              <a:rPr dirty="0"/>
              <a:t> </a:t>
            </a:r>
            <a:r>
              <a:rPr dirty="0" err="1"/>
              <a:t>잇는</a:t>
            </a:r>
            <a:r>
              <a:rPr dirty="0"/>
              <a:t> </a:t>
            </a:r>
            <a:r>
              <a:rPr dirty="0" err="1"/>
              <a:t>중개</a:t>
            </a:r>
            <a:r>
              <a:rPr dirty="0"/>
              <a:t> </a:t>
            </a:r>
            <a:r>
              <a:rPr dirty="0" err="1"/>
              <a:t>위치인지</a:t>
            </a:r>
            <a:r>
              <a:rPr dirty="0"/>
              <a:t> </a:t>
            </a:r>
            <a:r>
              <a:rPr dirty="0" err="1"/>
              <a:t>나타냅니다</a:t>
            </a:r>
            <a:r>
              <a:rPr dirty="0"/>
              <a:t>. </a:t>
            </a:r>
            <a:r>
              <a:rPr dirty="0" err="1"/>
              <a:t>PageRank는</a:t>
            </a:r>
            <a:r>
              <a:rPr dirty="0"/>
              <a:t> </a:t>
            </a:r>
            <a:r>
              <a:rPr dirty="0" err="1"/>
              <a:t>강하거나</a:t>
            </a:r>
            <a:r>
              <a:rPr dirty="0"/>
              <a:t> </a:t>
            </a:r>
            <a:r>
              <a:rPr dirty="0" err="1"/>
              <a:t>중심적인</a:t>
            </a:r>
            <a:r>
              <a:rPr dirty="0"/>
              <a:t> </a:t>
            </a:r>
            <a:r>
              <a:rPr dirty="0" err="1"/>
              <a:t>노드와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연결됐는지를</a:t>
            </a:r>
            <a:r>
              <a:rPr dirty="0"/>
              <a:t> </a:t>
            </a:r>
            <a:r>
              <a:rPr dirty="0" err="1"/>
              <a:t>나타냅니다</a:t>
            </a:r>
            <a:r>
              <a:rPr dirty="0"/>
              <a:t>. Louvain </a:t>
            </a:r>
            <a:r>
              <a:rPr dirty="0" err="1"/>
              <a:t>community는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연결이</a:t>
            </a:r>
            <a:r>
              <a:rPr dirty="0"/>
              <a:t> </a:t>
            </a:r>
            <a:r>
              <a:rPr dirty="0" err="1"/>
              <a:t>조밀한</a:t>
            </a:r>
            <a:r>
              <a:rPr dirty="0"/>
              <a:t> </a:t>
            </a:r>
            <a:r>
              <a:rPr dirty="0" err="1"/>
              <a:t>하위</a:t>
            </a:r>
            <a:r>
              <a:rPr dirty="0"/>
              <a:t> </a:t>
            </a:r>
            <a:r>
              <a:rPr dirty="0" err="1"/>
              <a:t>집단으로</a:t>
            </a:r>
            <a:r>
              <a:rPr dirty="0"/>
              <a:t>, </a:t>
            </a:r>
            <a:r>
              <a:rPr dirty="0" err="1"/>
              <a:t>PUBG에서는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국소</a:t>
            </a:r>
            <a:r>
              <a:rPr dirty="0"/>
              <a:t> </a:t>
            </a:r>
            <a:r>
              <a:rPr dirty="0" err="1"/>
              <a:t>교전권을</a:t>
            </a:r>
            <a:r>
              <a:rPr dirty="0"/>
              <a:t> </a:t>
            </a:r>
            <a:r>
              <a:rPr dirty="0" err="1"/>
              <a:t>의미합니다</a:t>
            </a:r>
            <a:r>
              <a:rPr dirty="0"/>
              <a:t>. Modularity </a:t>
            </a:r>
            <a:r>
              <a:rPr dirty="0" err="1"/>
              <a:t>Q는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community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뚜렷한지를</a:t>
            </a:r>
            <a:r>
              <a:rPr dirty="0"/>
              <a:t> 0에서 1 </a:t>
            </a:r>
            <a:r>
              <a:rPr dirty="0" err="1"/>
              <a:t>사이로</a:t>
            </a:r>
            <a:r>
              <a:rPr dirty="0"/>
              <a:t> </a:t>
            </a:r>
            <a:r>
              <a:rPr dirty="0" err="1"/>
              <a:t>측정합니다</a:t>
            </a:r>
            <a:r>
              <a:rPr dirty="0"/>
              <a:t>. Battle bridge </a:t>
            </a:r>
            <a:r>
              <a:rPr dirty="0" err="1"/>
              <a:t>score는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community를</a:t>
            </a:r>
            <a:r>
              <a:rPr dirty="0"/>
              <a:t> </a:t>
            </a:r>
            <a:r>
              <a:rPr dirty="0" err="1"/>
              <a:t>잇는</a:t>
            </a:r>
            <a:r>
              <a:rPr dirty="0"/>
              <a:t> </a:t>
            </a:r>
            <a:r>
              <a:rPr dirty="0" err="1"/>
              <a:t>정도를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지표입니다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6개 </a:t>
            </a:r>
            <a:r>
              <a:rPr dirty="0" err="1"/>
              <a:t>개념이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슬라이드들에</a:t>
            </a:r>
            <a:r>
              <a:rPr dirty="0"/>
              <a:t> </a:t>
            </a:r>
            <a:r>
              <a:rPr dirty="0" err="1"/>
              <a:t>반복적으로</a:t>
            </a:r>
            <a:r>
              <a:rPr dirty="0"/>
              <a:t> </a:t>
            </a:r>
            <a:r>
              <a:rPr dirty="0" err="1"/>
              <a:t>등장하니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정의를</a:t>
            </a:r>
            <a:r>
              <a:rPr dirty="0"/>
              <a:t> </a:t>
            </a:r>
            <a:r>
              <a:rPr dirty="0" err="1"/>
              <a:t>짚고</a:t>
            </a:r>
            <a:r>
              <a:rPr dirty="0"/>
              <a:t> </a:t>
            </a:r>
            <a:r>
              <a:rPr dirty="0" err="1"/>
              <a:t>넘어갑니다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네트워크의</a:t>
            </a:r>
            <a:r>
              <a:rPr dirty="0"/>
              <a:t> community </a:t>
            </a:r>
            <a:r>
              <a:rPr dirty="0" err="1"/>
              <a:t>구조입니다</a:t>
            </a:r>
            <a:r>
              <a:rPr dirty="0"/>
              <a:t>. </a:t>
            </a:r>
            <a:r>
              <a:rPr dirty="0" err="1"/>
              <a:t>평균</a:t>
            </a:r>
            <a:r>
              <a:rPr dirty="0"/>
              <a:t> Louvain modularity </a:t>
            </a:r>
            <a:r>
              <a:rPr dirty="0" err="1"/>
              <a:t>Q가</a:t>
            </a:r>
            <a:r>
              <a:rPr dirty="0"/>
              <a:t> 0.592로 </a:t>
            </a:r>
            <a:r>
              <a:rPr dirty="0" err="1"/>
              <a:t>매우</a:t>
            </a:r>
            <a:r>
              <a:rPr dirty="0"/>
              <a:t> </a:t>
            </a:r>
            <a:r>
              <a:rPr dirty="0" err="1"/>
              <a:t>높게</a:t>
            </a:r>
            <a:r>
              <a:rPr dirty="0"/>
              <a:t> </a:t>
            </a:r>
            <a:r>
              <a:rPr dirty="0" err="1"/>
              <a:t>나왔습니다</a:t>
            </a:r>
            <a:r>
              <a:rPr dirty="0"/>
              <a:t>.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매치당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6.2개의 </a:t>
            </a:r>
            <a:r>
              <a:rPr dirty="0" err="1"/>
              <a:t>community가</a:t>
            </a:r>
            <a:r>
              <a:rPr dirty="0"/>
              <a:t> </a:t>
            </a:r>
            <a:r>
              <a:rPr dirty="0" err="1"/>
              <a:t>형성되고</a:t>
            </a:r>
            <a:r>
              <a:rPr dirty="0"/>
              <a:t>, giant </a:t>
            </a:r>
            <a:r>
              <a:rPr dirty="0" err="1"/>
              <a:t>component는</a:t>
            </a:r>
            <a:r>
              <a:rPr dirty="0"/>
              <a:t> 97.3%로 </a:t>
            </a:r>
            <a:r>
              <a:rPr dirty="0" err="1"/>
              <a:t>거의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그래프에</a:t>
            </a:r>
            <a:r>
              <a:rPr dirty="0"/>
              <a:t> </a:t>
            </a:r>
            <a:r>
              <a:rPr dirty="0" err="1"/>
              <a:t>연결됩니다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싸우는</a:t>
            </a:r>
            <a:r>
              <a:rPr dirty="0"/>
              <a:t> </a:t>
            </a:r>
            <a:r>
              <a:rPr dirty="0" err="1"/>
              <a:t>팀</a:t>
            </a:r>
            <a:r>
              <a:rPr dirty="0"/>
              <a:t> </a:t>
            </a:r>
            <a:r>
              <a:rPr dirty="0" err="1"/>
              <a:t>페어는</a:t>
            </a:r>
            <a:r>
              <a:rPr dirty="0"/>
              <a:t> 13% </a:t>
            </a:r>
            <a:r>
              <a:rPr dirty="0" err="1"/>
              <a:t>정도뿐입니다</a:t>
            </a:r>
            <a:r>
              <a:rPr dirty="0"/>
              <a:t>. </a:t>
            </a:r>
            <a:r>
              <a:rPr dirty="0" err="1"/>
              <a:t>즉</a:t>
            </a:r>
            <a:r>
              <a:rPr dirty="0"/>
              <a:t> PUBG </a:t>
            </a:r>
            <a:r>
              <a:rPr dirty="0" err="1"/>
              <a:t>교전은</a:t>
            </a:r>
            <a:r>
              <a:rPr dirty="0"/>
              <a:t> </a:t>
            </a:r>
            <a:r>
              <a:rPr dirty="0" err="1"/>
              <a:t>무작위</a:t>
            </a:r>
            <a:r>
              <a:rPr dirty="0"/>
              <a:t> </a:t>
            </a:r>
            <a:r>
              <a:rPr dirty="0" err="1"/>
              <a:t>난전이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명확한</a:t>
            </a:r>
            <a:r>
              <a:rPr dirty="0"/>
              <a:t> </a:t>
            </a:r>
            <a:r>
              <a:rPr dirty="0" err="1"/>
              <a:t>국소</a:t>
            </a:r>
            <a:r>
              <a:rPr dirty="0"/>
              <a:t> cluster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갖는다는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분석에서</a:t>
            </a:r>
            <a:r>
              <a:rPr dirty="0"/>
              <a:t> 'Louvain </a:t>
            </a:r>
            <a:r>
              <a:rPr dirty="0" err="1"/>
              <a:t>community'와</a:t>
            </a:r>
            <a:r>
              <a:rPr dirty="0"/>
              <a:t> 'battle bridge'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개념이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단위라는</a:t>
            </a:r>
            <a:r>
              <a:rPr dirty="0"/>
              <a:t> </a:t>
            </a:r>
            <a:r>
              <a:rPr dirty="0" err="1"/>
              <a:t>근거가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4가지 </a:t>
            </a:r>
            <a:r>
              <a:rPr dirty="0" err="1"/>
              <a:t>카테고리로</a:t>
            </a:r>
            <a:r>
              <a:rPr dirty="0"/>
              <a:t> </a:t>
            </a:r>
            <a:r>
              <a:rPr dirty="0" err="1"/>
              <a:t>분류했습니다</a:t>
            </a:r>
            <a:r>
              <a:rPr dirty="0"/>
              <a:t>. </a:t>
            </a:r>
            <a:r>
              <a:rPr dirty="0" err="1"/>
              <a:t>core는</a:t>
            </a:r>
            <a:r>
              <a:rPr dirty="0"/>
              <a:t> </a:t>
            </a:r>
            <a:r>
              <a:rPr dirty="0" err="1"/>
              <a:t>degree가</a:t>
            </a:r>
            <a:r>
              <a:rPr dirty="0"/>
              <a:t> 0보다 </a:t>
            </a:r>
            <a:r>
              <a:rPr dirty="0" err="1"/>
              <a:t>크면서</a:t>
            </a:r>
            <a:r>
              <a:rPr dirty="0"/>
              <a:t> betweenness </a:t>
            </a:r>
            <a:r>
              <a:rPr dirty="0" err="1"/>
              <a:t>centrality가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25%인 </a:t>
            </a:r>
            <a:r>
              <a:rPr dirty="0" err="1"/>
              <a:t>팀</a:t>
            </a:r>
            <a:r>
              <a:rPr dirty="0"/>
              <a:t>, </a:t>
            </a:r>
            <a:r>
              <a:rPr dirty="0" err="1"/>
              <a:t>mid는</a:t>
            </a:r>
            <a:r>
              <a:rPr dirty="0"/>
              <a:t> </a:t>
            </a:r>
            <a:r>
              <a:rPr dirty="0" err="1"/>
              <a:t>betweenness가</a:t>
            </a:r>
            <a:r>
              <a:rPr dirty="0"/>
              <a:t> </a:t>
            </a:r>
            <a:r>
              <a:rPr dirty="0" err="1"/>
              <a:t>중간</a:t>
            </a:r>
            <a:r>
              <a:rPr dirty="0"/>
              <a:t> 50%인 </a:t>
            </a:r>
            <a:r>
              <a:rPr dirty="0" err="1"/>
              <a:t>팀</a:t>
            </a:r>
            <a:r>
              <a:rPr dirty="0"/>
              <a:t>, </a:t>
            </a:r>
            <a:r>
              <a:rPr dirty="0" err="1"/>
              <a:t>peripheral은</a:t>
            </a:r>
            <a:r>
              <a:rPr dirty="0"/>
              <a:t> </a:t>
            </a:r>
            <a:r>
              <a:rPr dirty="0" err="1"/>
              <a:t>betweenness가</a:t>
            </a:r>
            <a:r>
              <a:rPr dirty="0"/>
              <a:t> </a:t>
            </a:r>
            <a:r>
              <a:rPr dirty="0" err="1"/>
              <a:t>하위</a:t>
            </a:r>
            <a:r>
              <a:rPr dirty="0"/>
              <a:t> 25%인 </a:t>
            </a:r>
            <a:r>
              <a:rPr dirty="0" err="1"/>
              <a:t>팀</a:t>
            </a:r>
            <a:r>
              <a:rPr dirty="0"/>
              <a:t>, </a:t>
            </a:r>
            <a:r>
              <a:rPr dirty="0" err="1"/>
              <a:t>isolated는</a:t>
            </a:r>
            <a:r>
              <a:rPr dirty="0"/>
              <a:t> </a:t>
            </a:r>
            <a:r>
              <a:rPr dirty="0" err="1"/>
              <a:t>degree가</a:t>
            </a:r>
            <a:r>
              <a:rPr dirty="0"/>
              <a:t> 0,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팀과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번도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교전하지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팀입니다</a:t>
            </a:r>
            <a:r>
              <a:rPr dirty="0"/>
              <a:t>.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매우</a:t>
            </a:r>
            <a:r>
              <a:rPr dirty="0"/>
              <a:t> </a:t>
            </a:r>
            <a:r>
              <a:rPr dirty="0" err="1"/>
              <a:t>명확합니다</a:t>
            </a:r>
            <a:r>
              <a:rPr dirty="0"/>
              <a:t>. core </a:t>
            </a:r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7.6위로 </a:t>
            </a:r>
            <a:r>
              <a:rPr dirty="0" err="1"/>
              <a:t>마치고</a:t>
            </a:r>
            <a:r>
              <a:rPr dirty="0"/>
              <a:t>, </a:t>
            </a:r>
            <a:r>
              <a:rPr dirty="0" err="1"/>
              <a:t>mid는</a:t>
            </a:r>
            <a:r>
              <a:rPr dirty="0"/>
              <a:t> 12.9위, </a:t>
            </a:r>
            <a:r>
              <a:rPr dirty="0" err="1"/>
              <a:t>peripheral은</a:t>
            </a:r>
            <a:r>
              <a:rPr dirty="0"/>
              <a:t> 17.7위, </a:t>
            </a:r>
            <a:r>
              <a:rPr dirty="0" err="1"/>
              <a:t>isolated는</a:t>
            </a:r>
            <a:r>
              <a:rPr dirty="0"/>
              <a:t> 17.8위입니다.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교전에서</a:t>
            </a:r>
            <a:r>
              <a:rPr dirty="0"/>
              <a:t> </a:t>
            </a:r>
            <a:r>
              <a:rPr dirty="0" err="1"/>
              <a:t>고립된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안전한</a:t>
            </a:r>
            <a:r>
              <a:rPr dirty="0"/>
              <a:t> </a:t>
            </a:r>
            <a:r>
              <a:rPr dirty="0" err="1"/>
              <a:t>게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오히려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순위를</a:t>
            </a:r>
            <a:r>
              <a:rPr dirty="0"/>
              <a:t> </a:t>
            </a:r>
            <a:r>
              <a:rPr dirty="0" err="1"/>
              <a:t>기록합니다</a:t>
            </a:r>
            <a:r>
              <a:rPr dirty="0"/>
              <a:t>. Battle </a:t>
            </a:r>
            <a:r>
              <a:rPr dirty="0" err="1"/>
              <a:t>bridge나</a:t>
            </a:r>
            <a:r>
              <a:rPr dirty="0"/>
              <a:t> </a:t>
            </a:r>
            <a:r>
              <a:rPr dirty="0" err="1"/>
              <a:t>PageRank가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팀도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6.8위 vs 19위로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격차를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 </a:t>
            </a:r>
            <a:r>
              <a:rPr dirty="0" err="1"/>
              <a:t>결론은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흐름의</a:t>
            </a:r>
            <a:r>
              <a:rPr dirty="0"/>
              <a:t> </a:t>
            </a:r>
            <a:r>
              <a:rPr dirty="0" err="1"/>
              <a:t>중심·중개</a:t>
            </a:r>
            <a:r>
              <a:rPr dirty="0"/>
              <a:t> </a:t>
            </a:r>
            <a:r>
              <a:rPr dirty="0" err="1"/>
              <a:t>위치에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팀이라는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ST </a:t>
            </a:r>
            <a:r>
              <a:rPr dirty="0" err="1"/>
              <a:t>가설입니다</a:t>
            </a:r>
            <a:r>
              <a:rPr dirty="0"/>
              <a:t>. </a:t>
            </a:r>
            <a:r>
              <a:rPr dirty="0" err="1"/>
              <a:t>가설은</a:t>
            </a:r>
            <a:r>
              <a:rPr dirty="0"/>
              <a:t> 'outer farm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hotzone</a:t>
            </a:r>
            <a:r>
              <a:rPr dirty="0"/>
              <a:t> </a:t>
            </a:r>
            <a:r>
              <a:rPr dirty="0" err="1"/>
              <a:t>팀보다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순위와</a:t>
            </a:r>
            <a:r>
              <a:rPr dirty="0"/>
              <a:t> RP </a:t>
            </a:r>
            <a:r>
              <a:rPr lang="en-US" dirty="0"/>
              <a:t>proxy</a:t>
            </a:r>
            <a:r>
              <a:rPr lang="en-US" altLang="ko-KR" dirty="0"/>
              <a:t>(</a:t>
            </a:r>
            <a:r>
              <a:rPr lang="ko-KR" altLang="en-US" dirty="0"/>
              <a:t>랭크 점수</a:t>
            </a:r>
            <a:r>
              <a:rPr lang="en-US" altLang="ko-KR" dirty="0"/>
              <a:t>)</a:t>
            </a:r>
            <a:r>
              <a:rPr dirty="0" err="1"/>
              <a:t>에서</a:t>
            </a:r>
            <a:r>
              <a:rPr dirty="0"/>
              <a:t> </a:t>
            </a:r>
            <a:r>
              <a:rPr dirty="0" err="1"/>
              <a:t>우세할</a:t>
            </a:r>
            <a:r>
              <a:rPr dirty="0"/>
              <a:t> </a:t>
            </a:r>
            <a:r>
              <a:rPr dirty="0" err="1"/>
              <a:t>것이다'입니다</a:t>
            </a:r>
            <a:r>
              <a:rPr dirty="0"/>
              <a:t>. </a:t>
            </a:r>
            <a:r>
              <a:rPr dirty="0" err="1"/>
              <a:t>hotzone은</a:t>
            </a:r>
            <a:r>
              <a:rPr dirty="0"/>
              <a:t> </a:t>
            </a:r>
            <a:r>
              <a:rPr dirty="0" err="1"/>
              <a:t>매치별</a:t>
            </a:r>
            <a:r>
              <a:rPr dirty="0"/>
              <a:t> </a:t>
            </a:r>
            <a:r>
              <a:rPr dirty="0" err="1"/>
              <a:t>착륙</a:t>
            </a:r>
            <a:r>
              <a:rPr dirty="0"/>
              <a:t> </a:t>
            </a:r>
            <a:r>
              <a:rPr dirty="0" err="1"/>
              <a:t>밀도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25% </a:t>
            </a:r>
            <a:r>
              <a:rPr dirty="0" err="1"/>
              <a:t>지역</a:t>
            </a:r>
            <a:r>
              <a:rPr dirty="0"/>
              <a:t>,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곳에</a:t>
            </a:r>
            <a:r>
              <a:rPr dirty="0"/>
              <a:t> </a:t>
            </a:r>
            <a:r>
              <a:rPr dirty="0" err="1"/>
              <a:t>떨어진</a:t>
            </a:r>
            <a:r>
              <a:rPr dirty="0"/>
              <a:t> </a:t>
            </a:r>
            <a:r>
              <a:rPr dirty="0" err="1"/>
              <a:t>지역입니다</a:t>
            </a:r>
            <a:r>
              <a:rPr dirty="0"/>
              <a:t>. </a:t>
            </a:r>
            <a:r>
              <a:rPr dirty="0" err="1"/>
              <a:t>outer_farm은</a:t>
            </a:r>
            <a:r>
              <a:rPr dirty="0"/>
              <a:t> </a:t>
            </a:r>
            <a:r>
              <a:rPr dirty="0" err="1"/>
              <a:t>하위</a:t>
            </a:r>
            <a:r>
              <a:rPr dirty="0"/>
              <a:t> 25%, </a:t>
            </a:r>
            <a:r>
              <a:rPr dirty="0" err="1"/>
              <a:t>즉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밀집</a:t>
            </a:r>
            <a:r>
              <a:rPr dirty="0"/>
              <a:t> </a:t>
            </a:r>
            <a:r>
              <a:rPr dirty="0" err="1"/>
              <a:t>지역에서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멀리</a:t>
            </a:r>
            <a:r>
              <a:rPr dirty="0"/>
              <a:t> </a:t>
            </a:r>
            <a:r>
              <a:rPr dirty="0" err="1"/>
              <a:t>떨어진</a:t>
            </a:r>
            <a:r>
              <a:rPr dirty="0"/>
              <a:t> </a:t>
            </a:r>
            <a:r>
              <a:rPr dirty="0" err="1"/>
              <a:t>외곽</a:t>
            </a:r>
            <a:r>
              <a:rPr dirty="0"/>
              <a:t> </a:t>
            </a:r>
            <a:r>
              <a:rPr dirty="0" err="1"/>
              <a:t>착륙</a:t>
            </a:r>
            <a:r>
              <a:rPr dirty="0"/>
              <a:t> </a:t>
            </a:r>
            <a:r>
              <a:rPr dirty="0" err="1"/>
              <a:t>팀입니다</a:t>
            </a:r>
            <a:r>
              <a:rPr dirty="0"/>
              <a:t>.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지지합니다</a:t>
            </a:r>
            <a:r>
              <a:rPr dirty="0"/>
              <a:t>. </a:t>
            </a:r>
            <a:r>
              <a:rPr dirty="0" err="1"/>
              <a:t>hotzone</a:t>
            </a:r>
            <a:r>
              <a:rPr dirty="0"/>
              <a:t> </a:t>
            </a:r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kills 4.04개로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많지만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순위는</a:t>
            </a:r>
            <a:r>
              <a:rPr dirty="0"/>
              <a:t> 16.7위, outer farm </a:t>
            </a:r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12.2위로 </a:t>
            </a:r>
            <a:r>
              <a:rPr dirty="0" err="1"/>
              <a:t>훨씬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 p-value </a:t>
            </a:r>
            <a:r>
              <a:rPr lang="ko-KR" altLang="en-US" dirty="0"/>
              <a:t>값도 이를 지지합니다</a:t>
            </a:r>
            <a:r>
              <a:rPr dirty="0"/>
              <a:t>. RP </a:t>
            </a:r>
            <a:r>
              <a:rPr dirty="0" err="1"/>
              <a:t>proxy도</a:t>
            </a:r>
            <a:r>
              <a:rPr dirty="0"/>
              <a:t> −0.22 vs +0.18로 outer </a:t>
            </a:r>
            <a:r>
              <a:rPr dirty="0" err="1"/>
              <a:t>farm이</a:t>
            </a:r>
            <a:r>
              <a:rPr dirty="0"/>
              <a:t> </a:t>
            </a:r>
            <a:r>
              <a:rPr dirty="0" err="1"/>
              <a:t>우세합니다</a:t>
            </a:r>
            <a:r>
              <a:rPr dirty="0"/>
              <a:t>. </a:t>
            </a:r>
            <a:r>
              <a:rPr dirty="0" err="1"/>
              <a:t>hotzone은</a:t>
            </a:r>
            <a:r>
              <a:rPr dirty="0"/>
              <a:t> kill </a:t>
            </a:r>
            <a:r>
              <a:rPr dirty="0" err="1"/>
              <a:t>기회를</a:t>
            </a:r>
            <a:r>
              <a:rPr dirty="0"/>
              <a:t> </a:t>
            </a:r>
            <a:r>
              <a:rPr dirty="0" err="1"/>
              <a:t>주지만</a:t>
            </a:r>
            <a:r>
              <a:rPr dirty="0"/>
              <a:t> </a:t>
            </a:r>
            <a:r>
              <a:rPr dirty="0" err="1"/>
              <a:t>조기</a:t>
            </a:r>
            <a:r>
              <a:rPr dirty="0"/>
              <a:t> </a:t>
            </a:r>
            <a:r>
              <a:rPr dirty="0" err="1"/>
              <a:t>탈락</a:t>
            </a:r>
            <a:r>
              <a:rPr dirty="0"/>
              <a:t> </a:t>
            </a:r>
            <a:r>
              <a:rPr dirty="0" err="1"/>
              <a:t>risk가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보상을</a:t>
            </a:r>
            <a:r>
              <a:rPr dirty="0"/>
              <a:t> </a:t>
            </a:r>
            <a:r>
              <a:rPr dirty="0" err="1"/>
              <a:t>상쇄합니다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ST </a:t>
            </a:r>
            <a:r>
              <a:rPr dirty="0" err="1"/>
              <a:t>가설입니다</a:t>
            </a:r>
            <a:r>
              <a:rPr dirty="0"/>
              <a:t>. </a:t>
            </a:r>
            <a:r>
              <a:rPr dirty="0" err="1"/>
              <a:t>가설은</a:t>
            </a:r>
            <a:r>
              <a:rPr dirty="0"/>
              <a:t> '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참여율이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순위가</a:t>
            </a:r>
            <a:r>
              <a:rPr dirty="0"/>
              <a:t> </a:t>
            </a:r>
            <a:r>
              <a:rPr dirty="0" err="1"/>
              <a:t>높을</a:t>
            </a:r>
            <a:r>
              <a:rPr dirty="0"/>
              <a:t> </a:t>
            </a:r>
            <a:r>
              <a:rPr dirty="0" err="1"/>
              <a:t>것이다'입니다</a:t>
            </a:r>
            <a:r>
              <a:rPr dirty="0"/>
              <a:t>. </a:t>
            </a:r>
            <a:r>
              <a:rPr dirty="0" err="1"/>
              <a:t>교전</a:t>
            </a:r>
            <a:r>
              <a:rPr dirty="0"/>
              <a:t> </a:t>
            </a:r>
            <a:r>
              <a:rPr dirty="0" err="1"/>
              <a:t>참여율은</a:t>
            </a:r>
            <a:r>
              <a:rPr dirty="0"/>
              <a:t> '</a:t>
            </a:r>
            <a:r>
              <a:rPr dirty="0" err="1"/>
              <a:t>combat_st_participation_rate'로</a:t>
            </a:r>
            <a:r>
              <a:rPr dirty="0"/>
              <a:t> </a:t>
            </a:r>
            <a:r>
              <a:rPr dirty="0" err="1"/>
              <a:t>정의했습니다</a:t>
            </a:r>
            <a:r>
              <a:rPr dirty="0"/>
              <a:t>. </a:t>
            </a:r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착륙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생존</a:t>
            </a:r>
            <a:r>
              <a:rPr dirty="0"/>
              <a:t> 10초 </a:t>
            </a:r>
            <a:r>
              <a:rPr dirty="0" err="1"/>
              <a:t>프레임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damage </a:t>
            </a:r>
            <a:r>
              <a:rPr dirty="0" err="1"/>
              <a:t>event의</a:t>
            </a:r>
            <a:r>
              <a:rPr dirty="0"/>
              <a:t> attacker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victim으로</a:t>
            </a:r>
            <a:r>
              <a:rPr dirty="0"/>
              <a:t> </a:t>
            </a:r>
            <a:r>
              <a:rPr dirty="0" err="1"/>
              <a:t>등장한</a:t>
            </a:r>
            <a:r>
              <a:rPr dirty="0"/>
              <a:t> </a:t>
            </a:r>
            <a:r>
              <a:rPr dirty="0" err="1"/>
              <a:t>프레임의</a:t>
            </a:r>
            <a:r>
              <a:rPr dirty="0"/>
              <a:t> </a:t>
            </a:r>
            <a:r>
              <a:rPr dirty="0" err="1"/>
              <a:t>비율입니다</a:t>
            </a:r>
            <a:r>
              <a:rPr dirty="0"/>
              <a:t>. </a:t>
            </a:r>
            <a:r>
              <a:rPr dirty="0" err="1"/>
              <a:t>팀들을</a:t>
            </a:r>
            <a:r>
              <a:rPr dirty="0"/>
              <a:t> low, mid, high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그룹으로</a:t>
            </a:r>
            <a:r>
              <a:rPr dirty="0"/>
              <a:t> </a:t>
            </a:r>
            <a:r>
              <a:rPr dirty="0" err="1"/>
              <a:t>나누어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기각합니다</a:t>
            </a:r>
            <a:r>
              <a:rPr dirty="0"/>
              <a:t>. high combat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19.6위로 </a:t>
            </a:r>
            <a:r>
              <a:rPr dirty="0" err="1"/>
              <a:t>최악</a:t>
            </a:r>
            <a:r>
              <a:rPr dirty="0"/>
              <a:t>, low </a:t>
            </a:r>
            <a:r>
              <a:rPr dirty="0" err="1"/>
              <a:t>combat이</a:t>
            </a:r>
            <a:r>
              <a:rPr dirty="0"/>
              <a:t> 10.7위, </a:t>
            </a:r>
            <a:r>
              <a:rPr dirty="0" err="1"/>
              <a:t>그리고</a:t>
            </a:r>
            <a:r>
              <a:rPr dirty="0"/>
              <a:t> mid combat </a:t>
            </a:r>
            <a:r>
              <a:rPr dirty="0" err="1"/>
              <a:t>그룹이</a:t>
            </a:r>
            <a:r>
              <a:rPr dirty="0"/>
              <a:t> RP proxy +0.42로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 high combat </a:t>
            </a:r>
            <a:r>
              <a:rPr dirty="0" err="1"/>
              <a:t>팀은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생존시간이</a:t>
            </a:r>
            <a:r>
              <a:rPr dirty="0"/>
              <a:t> 514초에 </a:t>
            </a:r>
            <a:r>
              <a:rPr dirty="0" err="1"/>
              <a:t>그칩니다</a:t>
            </a:r>
            <a:r>
              <a:rPr dirty="0"/>
              <a:t>. </a:t>
            </a:r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싸우는</a:t>
            </a:r>
            <a:r>
              <a:rPr dirty="0"/>
              <a:t> </a:t>
            </a:r>
            <a:r>
              <a:rPr dirty="0" err="1"/>
              <a:t>게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살아남으면서</a:t>
            </a:r>
            <a:r>
              <a:rPr dirty="0"/>
              <a:t> </a:t>
            </a:r>
            <a:r>
              <a:rPr dirty="0" err="1"/>
              <a:t>점수로</a:t>
            </a:r>
            <a:r>
              <a:rPr dirty="0"/>
              <a:t> </a:t>
            </a:r>
            <a:r>
              <a:rPr dirty="0" err="1"/>
              <a:t>전환할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교전이</a:t>
            </a:r>
            <a:r>
              <a:rPr dirty="0"/>
              <a:t> </a:t>
            </a:r>
            <a:r>
              <a:rPr dirty="0" err="1"/>
              <a:t>중요하다는</a:t>
            </a:r>
            <a:r>
              <a:rPr dirty="0"/>
              <a:t> </a:t>
            </a:r>
            <a:r>
              <a:rPr dirty="0" err="1"/>
              <a:t>결론입니다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ST </a:t>
            </a:r>
            <a:r>
              <a:rPr dirty="0" err="1"/>
              <a:t>가설입니다</a:t>
            </a:r>
            <a:r>
              <a:rPr dirty="0"/>
              <a:t>. </a:t>
            </a:r>
            <a:r>
              <a:rPr dirty="0" err="1"/>
              <a:t>가설은</a:t>
            </a:r>
            <a:r>
              <a:rPr dirty="0"/>
              <a:t> '</a:t>
            </a:r>
            <a:r>
              <a:rPr dirty="0" err="1"/>
              <a:t>존버</a:t>
            </a:r>
            <a:r>
              <a:rPr dirty="0"/>
              <a:t>, </a:t>
            </a:r>
            <a:r>
              <a:rPr dirty="0" err="1"/>
              <a:t>즉</a:t>
            </a:r>
            <a:r>
              <a:rPr dirty="0"/>
              <a:t> sedentary </a:t>
            </a:r>
            <a:r>
              <a:rPr dirty="0" err="1"/>
              <a:t>팀이</a:t>
            </a:r>
            <a:r>
              <a:rPr dirty="0"/>
              <a:t> mobile </a:t>
            </a:r>
            <a:r>
              <a:rPr dirty="0" err="1"/>
              <a:t>팀보다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순위가</a:t>
            </a:r>
            <a:r>
              <a:rPr dirty="0"/>
              <a:t> </a:t>
            </a:r>
            <a:r>
              <a:rPr dirty="0" err="1"/>
              <a:t>높을</a:t>
            </a:r>
            <a:r>
              <a:rPr dirty="0"/>
              <a:t> </a:t>
            </a:r>
            <a:r>
              <a:rPr dirty="0" err="1"/>
              <a:t>것이다'입니다</a:t>
            </a:r>
            <a:r>
              <a:rPr dirty="0"/>
              <a:t>. </a:t>
            </a:r>
            <a:r>
              <a:rPr dirty="0" err="1"/>
              <a:t>조기</a:t>
            </a:r>
            <a:r>
              <a:rPr dirty="0"/>
              <a:t> </a:t>
            </a:r>
            <a:r>
              <a:rPr dirty="0" err="1"/>
              <a:t>탈락</a:t>
            </a:r>
            <a:r>
              <a:rPr dirty="0"/>
              <a:t> </a:t>
            </a:r>
            <a:r>
              <a:rPr dirty="0" err="1"/>
              <a:t>오염을</a:t>
            </a:r>
            <a:r>
              <a:rPr dirty="0"/>
              <a:t> </a:t>
            </a:r>
            <a:r>
              <a:rPr dirty="0" err="1"/>
              <a:t>줄이기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착륙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600초 fixed window </a:t>
            </a:r>
            <a:r>
              <a:rPr dirty="0" err="1"/>
              <a:t>안에서의</a:t>
            </a:r>
            <a:r>
              <a:rPr dirty="0"/>
              <a:t> </a:t>
            </a:r>
            <a:r>
              <a:rPr dirty="0" err="1"/>
              <a:t>이동량으로</a:t>
            </a:r>
            <a:r>
              <a:rPr dirty="0"/>
              <a:t> </a:t>
            </a:r>
            <a:r>
              <a:rPr dirty="0" err="1"/>
              <a:t>정의하고</a:t>
            </a:r>
            <a:r>
              <a:rPr dirty="0"/>
              <a:t>,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window를</a:t>
            </a:r>
            <a:r>
              <a:rPr dirty="0"/>
              <a:t> </a:t>
            </a:r>
            <a:r>
              <a:rPr dirty="0" err="1"/>
              <a:t>완주한</a:t>
            </a:r>
            <a:r>
              <a:rPr dirty="0"/>
              <a:t> </a:t>
            </a:r>
            <a:r>
              <a:rPr dirty="0" err="1"/>
              <a:t>팀만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</a:t>
            </a:r>
            <a:r>
              <a:rPr dirty="0" err="1"/>
              <a:t>fixed_sedentary는</a:t>
            </a:r>
            <a:r>
              <a:rPr dirty="0"/>
              <a:t> fixed window </a:t>
            </a:r>
            <a:r>
              <a:rPr dirty="0" err="1"/>
              <a:t>이동량</a:t>
            </a:r>
            <a:r>
              <a:rPr dirty="0"/>
              <a:t> </a:t>
            </a:r>
            <a:r>
              <a:rPr dirty="0" err="1"/>
              <a:t>하위</a:t>
            </a:r>
            <a:r>
              <a:rPr dirty="0"/>
              <a:t> 25%, </a:t>
            </a:r>
            <a:r>
              <a:rPr dirty="0" err="1"/>
              <a:t>fixed_mobile은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 25%입니다.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명확히</a:t>
            </a:r>
            <a:r>
              <a:rPr dirty="0"/>
              <a:t> </a:t>
            </a:r>
            <a:r>
              <a:rPr dirty="0" err="1"/>
              <a:t>기각입니다</a:t>
            </a:r>
            <a:r>
              <a:rPr dirty="0"/>
              <a:t>. mobile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7.43위로 </a:t>
            </a:r>
            <a:r>
              <a:rPr dirty="0" err="1"/>
              <a:t>sedentary의</a:t>
            </a:r>
            <a:r>
              <a:rPr dirty="0"/>
              <a:t> 9.23위보다 </a:t>
            </a:r>
            <a:r>
              <a:rPr dirty="0" err="1"/>
              <a:t>좋고</a:t>
            </a:r>
            <a:r>
              <a:rPr dirty="0"/>
              <a:t>, RP </a:t>
            </a:r>
            <a:r>
              <a:rPr dirty="0" err="1"/>
              <a:t>proxy도</a:t>
            </a:r>
            <a:r>
              <a:rPr dirty="0"/>
              <a:t> </a:t>
            </a:r>
            <a:r>
              <a:rPr dirty="0" err="1"/>
              <a:t>mobile이</a:t>
            </a:r>
            <a:r>
              <a:rPr dirty="0"/>
              <a:t> </a:t>
            </a:r>
            <a:r>
              <a:rPr dirty="0" err="1"/>
              <a:t>우세합니다</a:t>
            </a:r>
            <a:r>
              <a:rPr dirty="0"/>
              <a:t>.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재계산에서도</a:t>
            </a:r>
            <a:r>
              <a:rPr dirty="0"/>
              <a:t> phase 1부터 3까지 </a:t>
            </a:r>
            <a:r>
              <a:rPr dirty="0" err="1"/>
              <a:t>mobile이</a:t>
            </a:r>
            <a:r>
              <a:rPr dirty="0"/>
              <a:t> </a:t>
            </a:r>
            <a:r>
              <a:rPr dirty="0" err="1"/>
              <a:t>일관되게</a:t>
            </a:r>
            <a:r>
              <a:rPr dirty="0"/>
              <a:t> </a:t>
            </a:r>
            <a:r>
              <a:rPr dirty="0" err="1"/>
              <a:t>우세합니다</a:t>
            </a:r>
            <a:r>
              <a:rPr dirty="0"/>
              <a:t>. </a:t>
            </a:r>
            <a:r>
              <a:rPr dirty="0" err="1"/>
              <a:t>PUBG에서</a:t>
            </a:r>
            <a:r>
              <a:rPr dirty="0"/>
              <a:t> </a:t>
            </a:r>
            <a:r>
              <a:rPr dirty="0" err="1"/>
              <a:t>무작정</a:t>
            </a:r>
            <a:r>
              <a:rPr dirty="0"/>
              <a:t> </a:t>
            </a:r>
            <a:r>
              <a:rPr dirty="0" err="1"/>
              <a:t>숨어있는</a:t>
            </a:r>
            <a:r>
              <a:rPr dirty="0"/>
              <a:t> </a:t>
            </a:r>
            <a:r>
              <a:rPr dirty="0" err="1"/>
              <a:t>게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전략이라는</a:t>
            </a:r>
            <a:r>
              <a:rPr dirty="0"/>
              <a:t> </a:t>
            </a:r>
            <a:r>
              <a:rPr dirty="0" err="1"/>
              <a:t>통념은</a:t>
            </a:r>
            <a:r>
              <a:rPr dirty="0"/>
              <a:t> </a:t>
            </a: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데이터에서</a:t>
            </a:r>
            <a:r>
              <a:rPr dirty="0"/>
              <a:t> </a:t>
            </a:r>
            <a:r>
              <a:rPr dirty="0" err="1"/>
              <a:t>지지되지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연구의</a:t>
            </a:r>
            <a:r>
              <a:rPr dirty="0"/>
              <a:t> 4유형 </a:t>
            </a:r>
            <a:r>
              <a:rPr dirty="0" err="1"/>
              <a:t>정의입니다</a:t>
            </a:r>
            <a:r>
              <a:rPr dirty="0"/>
              <a:t>. </a:t>
            </a:r>
            <a:r>
              <a:rPr dirty="0" err="1"/>
              <a:t>사공</a:t>
            </a:r>
            <a:r>
              <a:rPr dirty="0"/>
              <a:t> </a:t>
            </a:r>
            <a:r>
              <a:rPr dirty="0" err="1"/>
              <a:t>외</a:t>
            </a:r>
            <a:r>
              <a:rPr dirty="0"/>
              <a:t> </a:t>
            </a:r>
            <a:r>
              <a:rPr dirty="0" err="1"/>
              <a:t>연구는</a:t>
            </a:r>
            <a:r>
              <a:rPr dirty="0"/>
              <a:t> </a:t>
            </a:r>
            <a:r>
              <a:rPr dirty="0" err="1"/>
              <a:t>FightScore를</a:t>
            </a:r>
            <a:r>
              <a:rPr dirty="0"/>
              <a:t> attack count, kill count, total damage, assist </a:t>
            </a:r>
            <a:r>
              <a:rPr dirty="0" err="1"/>
              <a:t>count의</a:t>
            </a:r>
            <a:r>
              <a:rPr dirty="0"/>
              <a:t> </a:t>
            </a:r>
            <a:r>
              <a:rPr dirty="0" err="1"/>
              <a:t>합으로</a:t>
            </a:r>
            <a:r>
              <a:rPr dirty="0"/>
              <a:t> </a:t>
            </a:r>
            <a:r>
              <a:rPr dirty="0" err="1"/>
              <a:t>정의했지만</a:t>
            </a:r>
            <a:r>
              <a:rPr dirty="0"/>
              <a:t>, </a:t>
            </a: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연구는</a:t>
            </a:r>
            <a:r>
              <a:rPr dirty="0"/>
              <a:t> Network </a:t>
            </a:r>
            <a:r>
              <a:rPr dirty="0" err="1"/>
              <a:t>FightScore를</a:t>
            </a:r>
            <a:r>
              <a:rPr dirty="0"/>
              <a:t> 6개 network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즉</a:t>
            </a:r>
            <a:r>
              <a:rPr dirty="0"/>
              <a:t> combat </a:t>
            </a:r>
            <a:r>
              <a:rPr dirty="0" err="1"/>
              <a:t>참여율</a:t>
            </a:r>
            <a:r>
              <a:rPr dirty="0"/>
              <a:t>, </a:t>
            </a:r>
            <a:r>
              <a:rPr dirty="0" err="1"/>
              <a:t>분당</a:t>
            </a:r>
            <a:r>
              <a:rPr dirty="0"/>
              <a:t> damage event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분당</a:t>
            </a:r>
            <a:r>
              <a:rPr dirty="0"/>
              <a:t> degree, </a:t>
            </a:r>
            <a:r>
              <a:rPr dirty="0" err="1"/>
              <a:t>분당</a:t>
            </a:r>
            <a:r>
              <a:rPr dirty="0"/>
              <a:t> weighted degree, PageRank, battle bridge </a:t>
            </a:r>
            <a:r>
              <a:rPr dirty="0" err="1"/>
              <a:t>score의</a:t>
            </a:r>
            <a:r>
              <a:rPr dirty="0"/>
              <a:t> z-score </a:t>
            </a:r>
            <a:r>
              <a:rPr dirty="0" err="1"/>
              <a:t>평균으로</a:t>
            </a:r>
            <a:r>
              <a:rPr dirty="0"/>
              <a:t> </a:t>
            </a:r>
            <a:r>
              <a:rPr dirty="0" err="1"/>
              <a:t>재정의했습니다</a:t>
            </a:r>
            <a:r>
              <a:rPr dirty="0"/>
              <a:t>. </a:t>
            </a:r>
            <a:r>
              <a:rPr dirty="0" err="1"/>
              <a:t>ActiveScore도</a:t>
            </a:r>
            <a:r>
              <a:rPr dirty="0"/>
              <a:t> </a:t>
            </a:r>
            <a:r>
              <a:rPr dirty="0" err="1"/>
              <a:t>마찬가지로</a:t>
            </a:r>
            <a:r>
              <a:rPr dirty="0"/>
              <a:t> 5개 </a:t>
            </a:r>
            <a:r>
              <a:rPr dirty="0" err="1"/>
              <a:t>변수</a:t>
            </a:r>
            <a:r>
              <a:rPr dirty="0"/>
              <a:t>, </a:t>
            </a:r>
            <a:r>
              <a:rPr dirty="0" err="1"/>
              <a:t>분당</a:t>
            </a:r>
            <a:r>
              <a:rPr dirty="0"/>
              <a:t> </a:t>
            </a:r>
            <a:r>
              <a:rPr dirty="0" err="1"/>
              <a:t>이동거리</a:t>
            </a:r>
            <a:r>
              <a:rPr dirty="0"/>
              <a:t>, active frame rate,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확산도</a:t>
            </a:r>
            <a:r>
              <a:rPr dirty="0"/>
              <a:t>, </a:t>
            </a:r>
            <a:r>
              <a:rPr dirty="0" err="1"/>
              <a:t>착륙</a:t>
            </a:r>
            <a:r>
              <a:rPr dirty="0"/>
              <a:t> </a:t>
            </a:r>
            <a:r>
              <a:rPr dirty="0" err="1"/>
              <a:t>밀도</a:t>
            </a:r>
            <a:r>
              <a:rPr dirty="0"/>
              <a:t>, </a:t>
            </a:r>
            <a:r>
              <a:rPr dirty="0" err="1"/>
              <a:t>착륙</a:t>
            </a:r>
            <a:r>
              <a:rPr dirty="0"/>
              <a:t> </a:t>
            </a:r>
            <a:r>
              <a:rPr dirty="0" err="1"/>
              <a:t>이웃</a:t>
            </a:r>
            <a:r>
              <a:rPr dirty="0"/>
              <a:t> </a:t>
            </a:r>
            <a:r>
              <a:rPr dirty="0" err="1"/>
              <a:t>수의</a:t>
            </a:r>
            <a:r>
              <a:rPr dirty="0"/>
              <a:t> z-score </a:t>
            </a:r>
            <a:r>
              <a:rPr dirty="0" err="1"/>
              <a:t>평균으로</a:t>
            </a:r>
            <a:r>
              <a:rPr dirty="0"/>
              <a:t> </a:t>
            </a:r>
            <a:r>
              <a:rPr dirty="0" err="1"/>
              <a:t>재정의했습니다</a:t>
            </a:r>
            <a:r>
              <a:rPr dirty="0"/>
              <a:t>.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점수의</a:t>
            </a:r>
            <a:r>
              <a:rPr dirty="0"/>
              <a:t> </a:t>
            </a:r>
            <a:r>
              <a:rPr dirty="0" err="1"/>
              <a:t>매치</a:t>
            </a:r>
            <a:r>
              <a:rPr dirty="0"/>
              <a:t> </a:t>
            </a:r>
            <a:r>
              <a:rPr dirty="0" err="1"/>
              <a:t>내</a:t>
            </a:r>
            <a:r>
              <a:rPr dirty="0"/>
              <a:t> </a:t>
            </a:r>
            <a:r>
              <a:rPr dirty="0" err="1"/>
              <a:t>median으로</a:t>
            </a:r>
            <a:r>
              <a:rPr dirty="0"/>
              <a:t> 2×2 </a:t>
            </a:r>
            <a:r>
              <a:rPr dirty="0" err="1"/>
              <a:t>사분면을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 4유형 </a:t>
            </a:r>
            <a:r>
              <a:rPr dirty="0" err="1"/>
              <a:t>이름은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가져왔습니다</a:t>
            </a:r>
            <a:r>
              <a:rPr dirty="0"/>
              <a:t>. </a:t>
            </a:r>
            <a:r>
              <a:rPr dirty="0" err="1"/>
              <a:t>Hunter는</a:t>
            </a:r>
            <a:r>
              <a:rPr dirty="0"/>
              <a:t>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높고</a:t>
            </a:r>
            <a:r>
              <a:rPr dirty="0"/>
              <a:t>, </a:t>
            </a:r>
            <a:r>
              <a:rPr dirty="0" err="1"/>
              <a:t>Sniper는</a:t>
            </a:r>
            <a:r>
              <a:rPr dirty="0"/>
              <a:t> </a:t>
            </a:r>
            <a:r>
              <a:rPr dirty="0" err="1"/>
              <a:t>fight만</a:t>
            </a:r>
            <a:r>
              <a:rPr dirty="0"/>
              <a:t> </a:t>
            </a:r>
            <a:r>
              <a:rPr dirty="0" err="1"/>
              <a:t>높으며</a:t>
            </a:r>
            <a:r>
              <a:rPr dirty="0"/>
              <a:t>, </a:t>
            </a:r>
            <a:r>
              <a:rPr dirty="0" err="1"/>
              <a:t>Traveler는</a:t>
            </a:r>
            <a:r>
              <a:rPr dirty="0"/>
              <a:t> </a:t>
            </a:r>
            <a:r>
              <a:rPr dirty="0" err="1"/>
              <a:t>active만</a:t>
            </a:r>
            <a:r>
              <a:rPr dirty="0"/>
              <a:t> </a:t>
            </a:r>
            <a:r>
              <a:rPr dirty="0" err="1"/>
              <a:t>높고</a:t>
            </a:r>
            <a:r>
              <a:rPr dirty="0"/>
              <a:t>, </a:t>
            </a:r>
            <a:r>
              <a:rPr dirty="0" err="1"/>
              <a:t>Camper는</a:t>
            </a:r>
            <a:r>
              <a:rPr dirty="0"/>
              <a:t>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r>
              <a:rPr dirty="0"/>
              <a:t> </a:t>
            </a:r>
            <a:r>
              <a:rPr dirty="0" err="1"/>
              <a:t>낮습니다</a:t>
            </a:r>
            <a:r>
              <a:rPr dirty="0"/>
              <a:t>. </a:t>
            </a:r>
            <a:r>
              <a:rPr dirty="0" err="1"/>
              <a:t>kills나</a:t>
            </a:r>
            <a:r>
              <a:rPr dirty="0"/>
              <a:t> assists </a:t>
            </a:r>
            <a:r>
              <a:rPr dirty="0" err="1"/>
              <a:t>같은</a:t>
            </a:r>
            <a:r>
              <a:rPr dirty="0"/>
              <a:t> outcome </a:t>
            </a:r>
            <a:r>
              <a:rPr dirty="0" err="1"/>
              <a:t>변수는</a:t>
            </a:r>
            <a:r>
              <a:rPr dirty="0"/>
              <a:t> </a:t>
            </a:r>
            <a:r>
              <a:rPr dirty="0" err="1"/>
              <a:t>정의에</a:t>
            </a:r>
            <a:r>
              <a:rPr dirty="0"/>
              <a:t> </a:t>
            </a:r>
            <a:r>
              <a:rPr dirty="0" err="1"/>
              <a:t>들어있지</a:t>
            </a:r>
            <a:r>
              <a:rPr dirty="0"/>
              <a:t> </a:t>
            </a:r>
            <a:r>
              <a:rPr dirty="0" err="1"/>
              <a:t>않아</a:t>
            </a:r>
            <a:r>
              <a:rPr dirty="0"/>
              <a:t> leakage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성과를</a:t>
            </a:r>
            <a:r>
              <a:rPr dirty="0"/>
              <a:t> </a:t>
            </a:r>
            <a:r>
              <a:rPr dirty="0" err="1"/>
              <a:t>비교할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4유형의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성과입니다</a:t>
            </a:r>
            <a:r>
              <a:rPr dirty="0"/>
              <a:t>. Hunter가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지표에서</a:t>
            </a:r>
            <a:r>
              <a:rPr dirty="0"/>
              <a:t> </a:t>
            </a:r>
            <a:r>
              <a:rPr dirty="0" err="1"/>
              <a:t>압도적입니다</a:t>
            </a:r>
            <a:r>
              <a:rPr dirty="0"/>
              <a:t>.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</a:t>
            </a:r>
            <a:r>
              <a:rPr dirty="0"/>
              <a:t> 10.6위, RP proxy +1.78, </a:t>
            </a:r>
            <a:r>
              <a:rPr dirty="0" err="1"/>
              <a:t>평균</a:t>
            </a:r>
            <a:r>
              <a:rPr dirty="0"/>
              <a:t> kills 8.18개, top-10 </a:t>
            </a:r>
            <a:r>
              <a:rPr dirty="0" err="1"/>
              <a:t>비율</a:t>
            </a:r>
            <a:r>
              <a:rPr dirty="0"/>
              <a:t> 56%. </a:t>
            </a:r>
            <a:r>
              <a:rPr dirty="0" err="1"/>
              <a:t>반대로</a:t>
            </a:r>
            <a:r>
              <a:rPr dirty="0"/>
              <a:t> Sniper는 </a:t>
            </a:r>
            <a:r>
              <a:rPr dirty="0" err="1"/>
              <a:t>fight는</a:t>
            </a:r>
            <a:r>
              <a:rPr dirty="0"/>
              <a:t> </a:t>
            </a:r>
            <a:r>
              <a:rPr dirty="0" err="1"/>
              <a:t>높지만</a:t>
            </a:r>
            <a:r>
              <a:rPr dirty="0"/>
              <a:t> </a:t>
            </a:r>
            <a:r>
              <a:rPr dirty="0" err="1"/>
              <a:t>active가</a:t>
            </a:r>
            <a:r>
              <a:rPr dirty="0"/>
              <a:t> </a:t>
            </a:r>
            <a:r>
              <a:rPr dirty="0" err="1"/>
              <a:t>낮아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</a:t>
            </a:r>
            <a:r>
              <a:rPr dirty="0"/>
              <a:t> 19.16위로 </a:t>
            </a:r>
            <a:r>
              <a:rPr dirty="0" err="1"/>
              <a:t>최악이고</a:t>
            </a:r>
            <a:r>
              <a:rPr dirty="0"/>
              <a:t>,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생존시간도</a:t>
            </a:r>
            <a:r>
              <a:rPr dirty="0"/>
              <a:t> 555초로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짧습니다</a:t>
            </a:r>
            <a:r>
              <a:rPr dirty="0"/>
              <a:t>. </a:t>
            </a:r>
            <a:r>
              <a:rPr dirty="0" err="1"/>
              <a:t>Traveler는</a:t>
            </a:r>
            <a:r>
              <a:rPr dirty="0"/>
              <a:t> </a:t>
            </a:r>
            <a:r>
              <a:rPr dirty="0" err="1"/>
              <a:t>순위는</a:t>
            </a:r>
            <a:r>
              <a:rPr dirty="0"/>
              <a:t> </a:t>
            </a:r>
            <a:r>
              <a:rPr dirty="0" err="1"/>
              <a:t>안정적이지만</a:t>
            </a:r>
            <a:r>
              <a:rPr dirty="0"/>
              <a:t> </a:t>
            </a:r>
            <a:r>
              <a:rPr dirty="0" err="1"/>
              <a:t>kill이</a:t>
            </a:r>
            <a:r>
              <a:rPr dirty="0"/>
              <a:t> </a:t>
            </a:r>
            <a:r>
              <a:rPr dirty="0" err="1"/>
              <a:t>적어</a:t>
            </a:r>
            <a:r>
              <a:rPr dirty="0"/>
              <a:t> </a:t>
            </a:r>
            <a:r>
              <a:rPr dirty="0" err="1"/>
              <a:t>RP가</a:t>
            </a:r>
            <a:r>
              <a:rPr dirty="0"/>
              <a:t> </a:t>
            </a:r>
            <a:r>
              <a:rPr dirty="0" err="1"/>
              <a:t>거의</a:t>
            </a:r>
            <a:r>
              <a:rPr dirty="0"/>
              <a:t> 0이고, </a:t>
            </a:r>
            <a:r>
              <a:rPr dirty="0" err="1"/>
              <a:t>Camper는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존버라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15위 </a:t>
            </a:r>
            <a:r>
              <a:rPr dirty="0" err="1"/>
              <a:t>중하위권입니다</a:t>
            </a:r>
            <a:r>
              <a:rPr dirty="0"/>
              <a:t>. </a:t>
            </a:r>
            <a:r>
              <a:rPr dirty="0" err="1"/>
              <a:t>결국</a:t>
            </a:r>
            <a:r>
              <a:rPr dirty="0"/>
              <a:t> </a:t>
            </a:r>
            <a:r>
              <a:rPr dirty="0" err="1"/>
              <a:t>fight와</a:t>
            </a:r>
            <a:r>
              <a:rPr dirty="0"/>
              <a:t> </a:t>
            </a:r>
            <a:r>
              <a:rPr dirty="0" err="1"/>
              <a:t>active를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가져가는</a:t>
            </a:r>
            <a:r>
              <a:rPr dirty="0"/>
              <a:t> Hunter가 </a:t>
            </a:r>
            <a:r>
              <a:rPr dirty="0" err="1"/>
              <a:t>점수형</a:t>
            </a:r>
            <a:r>
              <a:rPr dirty="0"/>
              <a:t> </a:t>
            </a:r>
            <a:r>
              <a:rPr dirty="0" err="1"/>
              <a:t>최강</a:t>
            </a:r>
            <a:r>
              <a:rPr dirty="0"/>
              <a:t> </a:t>
            </a:r>
            <a:r>
              <a:rPr dirty="0" err="1"/>
              <a:t>전략이라는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state </a:t>
            </a:r>
            <a:r>
              <a:rPr dirty="0" err="1"/>
              <a:t>결과입니다</a:t>
            </a:r>
            <a:r>
              <a:rPr dirty="0"/>
              <a:t>. </a:t>
            </a:r>
            <a:r>
              <a:rPr dirty="0" err="1"/>
              <a:t>사공</a:t>
            </a:r>
            <a:r>
              <a:rPr dirty="0"/>
              <a:t> </a:t>
            </a:r>
            <a:r>
              <a:rPr dirty="0" err="1"/>
              <a:t>외</a:t>
            </a:r>
            <a:r>
              <a:rPr dirty="0"/>
              <a:t> </a:t>
            </a:r>
            <a:r>
              <a:rPr dirty="0" err="1"/>
              <a:t>연구도</a:t>
            </a:r>
            <a:r>
              <a:rPr dirty="0"/>
              <a:t>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player를</a:t>
            </a:r>
            <a:r>
              <a:rPr dirty="0"/>
              <a:t> 4유형으로 </a:t>
            </a:r>
            <a:r>
              <a:rPr dirty="0" err="1"/>
              <a:t>분류해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phase </a:t>
            </a:r>
            <a:r>
              <a:rPr dirty="0" err="1"/>
              <a:t>생존을</a:t>
            </a:r>
            <a:r>
              <a:rPr dirty="0"/>
              <a:t> </a:t>
            </a:r>
            <a:r>
              <a:rPr dirty="0" err="1"/>
              <a:t>예측했지만</a:t>
            </a:r>
            <a:r>
              <a:rPr dirty="0"/>
              <a:t>, </a:t>
            </a:r>
            <a:r>
              <a:rPr dirty="0" err="1"/>
              <a:t>유형이</a:t>
            </a:r>
            <a:r>
              <a:rPr dirty="0"/>
              <a:t> </a:t>
            </a:r>
            <a:r>
              <a:rPr dirty="0" err="1"/>
              <a:t>phase가</a:t>
            </a:r>
            <a:r>
              <a:rPr dirty="0"/>
              <a:t> </a:t>
            </a:r>
            <a:r>
              <a:rPr dirty="0" err="1"/>
              <a:t>바뀌면서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전환되는지</a:t>
            </a:r>
            <a:r>
              <a:rPr dirty="0"/>
              <a:t> team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정리하지는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 </a:t>
            </a: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연구에서</a:t>
            </a:r>
            <a:r>
              <a:rPr dirty="0"/>
              <a:t> team-level state </a:t>
            </a:r>
            <a:r>
              <a:rPr dirty="0" err="1"/>
              <a:t>전환을</a:t>
            </a:r>
            <a:r>
              <a:rPr dirty="0"/>
              <a:t> </a:t>
            </a:r>
            <a:r>
              <a:rPr dirty="0" err="1"/>
              <a:t>분석한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Phase 1에서는 </a:t>
            </a:r>
            <a:r>
              <a:rPr dirty="0" err="1"/>
              <a:t>Traveler가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9.79위로 </a:t>
            </a:r>
            <a:r>
              <a:rPr dirty="0" err="1"/>
              <a:t>생존</a:t>
            </a:r>
            <a:r>
              <a:rPr dirty="0"/>
              <a:t> </a:t>
            </a:r>
            <a:r>
              <a:rPr dirty="0" err="1"/>
              <a:t>안정성이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높지만</a:t>
            </a:r>
            <a:r>
              <a:rPr dirty="0"/>
              <a:t>, phase 2부터 5까지 Hunter의 RP </a:t>
            </a:r>
            <a:r>
              <a:rPr dirty="0" err="1"/>
              <a:t>proxy가</a:t>
            </a:r>
            <a:r>
              <a:rPr dirty="0"/>
              <a:t> 1.82, 2.27, 2.76, 3.38로 </a:t>
            </a:r>
            <a:r>
              <a:rPr dirty="0" err="1"/>
              <a:t>점점</a:t>
            </a:r>
            <a:r>
              <a:rPr dirty="0"/>
              <a:t> </a:t>
            </a:r>
            <a:r>
              <a:rPr dirty="0" err="1"/>
              <a:t>우세해지고</a:t>
            </a:r>
            <a:r>
              <a:rPr dirty="0"/>
              <a:t>, phase 6에서는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순위</a:t>
            </a:r>
            <a:r>
              <a:rPr dirty="0"/>
              <a:t> 2.56위, RP +4.07, </a:t>
            </a:r>
            <a:r>
              <a:rPr dirty="0" err="1"/>
              <a:t>평균</a:t>
            </a:r>
            <a:r>
              <a:rPr dirty="0"/>
              <a:t> kills 11.9개로 </a:t>
            </a:r>
            <a:r>
              <a:rPr dirty="0" err="1"/>
              <a:t>사실상</a:t>
            </a:r>
            <a:r>
              <a:rPr dirty="0"/>
              <a:t> </a:t>
            </a:r>
            <a:r>
              <a:rPr dirty="0" err="1"/>
              <a:t>우승</a:t>
            </a:r>
            <a:r>
              <a:rPr dirty="0"/>
              <a:t> </a:t>
            </a:r>
            <a:r>
              <a:rPr dirty="0" err="1"/>
              <a:t>후보가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phase가</a:t>
            </a:r>
            <a:r>
              <a:rPr dirty="0"/>
              <a:t> </a:t>
            </a:r>
            <a:r>
              <a:rPr dirty="0" err="1"/>
              <a:t>바뀌면서</a:t>
            </a:r>
            <a:r>
              <a:rPr dirty="0"/>
              <a:t> </a:t>
            </a:r>
            <a:r>
              <a:rPr dirty="0" err="1"/>
              <a:t>유형도</a:t>
            </a:r>
            <a:r>
              <a:rPr dirty="0"/>
              <a:t> </a:t>
            </a:r>
            <a:r>
              <a:rPr dirty="0" err="1"/>
              <a:t>바뀝니다</a:t>
            </a:r>
            <a:r>
              <a:rPr dirty="0"/>
              <a:t>. </a:t>
            </a:r>
            <a:r>
              <a:rPr dirty="0" err="1"/>
              <a:t>초반</a:t>
            </a:r>
            <a:r>
              <a:rPr dirty="0"/>
              <a:t> </a:t>
            </a:r>
            <a:r>
              <a:rPr dirty="0" err="1"/>
              <a:t>Traveler였던</a:t>
            </a:r>
            <a:r>
              <a:rPr dirty="0"/>
              <a:t> </a:t>
            </a:r>
            <a:r>
              <a:rPr dirty="0" err="1"/>
              <a:t>팀이</a:t>
            </a:r>
            <a:r>
              <a:rPr dirty="0"/>
              <a:t> </a:t>
            </a:r>
            <a:r>
              <a:rPr dirty="0" err="1"/>
              <a:t>중반</a:t>
            </a:r>
            <a:r>
              <a:rPr dirty="0"/>
              <a:t> Hunter로 </a:t>
            </a:r>
            <a:r>
              <a:rPr dirty="0" err="1"/>
              <a:t>전환하는</a:t>
            </a:r>
            <a:r>
              <a:rPr dirty="0"/>
              <a:t> </a:t>
            </a:r>
            <a:r>
              <a:rPr dirty="0" err="1"/>
              <a:t>패턴이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관측되어</a:t>
            </a:r>
            <a:r>
              <a:rPr dirty="0"/>
              <a:t>, 4유형은 </a:t>
            </a:r>
            <a:r>
              <a:rPr dirty="0" err="1"/>
              <a:t>player의</a:t>
            </a:r>
            <a:r>
              <a:rPr dirty="0"/>
              <a:t> </a:t>
            </a:r>
            <a:r>
              <a:rPr dirty="0" err="1"/>
              <a:t>정체성이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phase별</a:t>
            </a:r>
            <a:r>
              <a:rPr dirty="0"/>
              <a:t> </a:t>
            </a:r>
            <a:r>
              <a:rPr dirty="0" err="1"/>
              <a:t>state라는</a:t>
            </a:r>
            <a:r>
              <a:rPr dirty="0"/>
              <a:t> </a:t>
            </a:r>
            <a:r>
              <a:rPr dirty="0" err="1"/>
              <a:t>결론을</a:t>
            </a:r>
            <a:r>
              <a:rPr dirty="0"/>
              <a:t> </a:t>
            </a:r>
            <a:r>
              <a:rPr dirty="0" err="1"/>
              <a:t>얻었습니다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한계는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가지입니다</a:t>
            </a:r>
            <a:r>
              <a:rPr dirty="0"/>
              <a:t>. RP </a:t>
            </a:r>
            <a:r>
              <a:rPr dirty="0" err="1"/>
              <a:t>공식이</a:t>
            </a:r>
            <a:r>
              <a:rPr dirty="0"/>
              <a:t> </a:t>
            </a:r>
            <a:r>
              <a:rPr dirty="0" err="1"/>
              <a:t>비공개라</a:t>
            </a:r>
            <a:r>
              <a:rPr dirty="0"/>
              <a:t> </a:t>
            </a:r>
            <a:r>
              <a:rPr dirty="0" err="1"/>
              <a:t>proxy를</a:t>
            </a:r>
            <a:r>
              <a:rPr dirty="0"/>
              <a:t> </a:t>
            </a:r>
            <a:r>
              <a:rPr dirty="0" err="1"/>
              <a:t>사용했고</a:t>
            </a:r>
            <a:r>
              <a:rPr dirty="0"/>
              <a:t>, </a:t>
            </a:r>
            <a:r>
              <a:rPr dirty="0" err="1"/>
              <a:t>feature가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산출물에</a:t>
            </a:r>
            <a:r>
              <a:rPr dirty="0"/>
              <a:t> </a:t>
            </a:r>
            <a:r>
              <a:rPr dirty="0" err="1"/>
              <a:t>한정되며</a:t>
            </a:r>
            <a:r>
              <a:rPr dirty="0"/>
              <a:t>, phase </a:t>
            </a:r>
            <a:r>
              <a:rPr dirty="0" err="1"/>
              <a:t>안의</a:t>
            </a:r>
            <a:r>
              <a:rPr dirty="0"/>
              <a:t> 10초 </a:t>
            </a:r>
            <a:r>
              <a:rPr dirty="0" err="1"/>
              <a:t>단위까지는</a:t>
            </a:r>
            <a:r>
              <a:rPr dirty="0"/>
              <a:t> </a:t>
            </a:r>
            <a:r>
              <a:rPr dirty="0" err="1"/>
              <a:t>분해하지</a:t>
            </a:r>
            <a:r>
              <a:rPr dirty="0"/>
              <a:t> </a:t>
            </a:r>
            <a:r>
              <a:rPr dirty="0" err="1"/>
              <a:t>못했고</a:t>
            </a:r>
            <a:r>
              <a:rPr dirty="0"/>
              <a:t>, </a:t>
            </a:r>
            <a:r>
              <a:rPr dirty="0" err="1"/>
              <a:t>centrality와</a:t>
            </a:r>
            <a:r>
              <a:rPr dirty="0"/>
              <a:t> </a:t>
            </a:r>
            <a:r>
              <a:rPr dirty="0" err="1"/>
              <a:t>rank의</a:t>
            </a:r>
            <a:r>
              <a:rPr dirty="0"/>
              <a:t> </a:t>
            </a:r>
            <a:r>
              <a:rPr dirty="0" err="1"/>
              <a:t>인과관계는</a:t>
            </a:r>
            <a:r>
              <a:rPr dirty="0"/>
              <a:t> </a:t>
            </a:r>
            <a:r>
              <a:rPr dirty="0" err="1"/>
              <a:t>미해결이며</a:t>
            </a:r>
            <a:r>
              <a:rPr dirty="0"/>
              <a:t>,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map과</a:t>
            </a:r>
            <a:r>
              <a:rPr dirty="0"/>
              <a:t> squad </a:t>
            </a:r>
            <a:r>
              <a:rPr dirty="0" err="1"/>
              <a:t>모드에서만</a:t>
            </a:r>
            <a:r>
              <a:rPr dirty="0"/>
              <a:t> </a:t>
            </a:r>
            <a:r>
              <a:rPr dirty="0" err="1"/>
              <a:t>검증했습니다</a:t>
            </a:r>
            <a:r>
              <a:rPr dirty="0"/>
              <a:t>. </a:t>
            </a:r>
            <a:r>
              <a:rPr dirty="0" err="1"/>
              <a:t>기여점은</a:t>
            </a:r>
            <a:r>
              <a:rPr dirty="0"/>
              <a:t> </a:t>
            </a:r>
            <a:r>
              <a:rPr dirty="0" err="1"/>
              <a:t>사공</a:t>
            </a:r>
            <a:r>
              <a:rPr dirty="0"/>
              <a:t> </a:t>
            </a:r>
            <a:r>
              <a:rPr dirty="0" err="1"/>
              <a:t>외</a:t>
            </a:r>
            <a:r>
              <a:rPr dirty="0"/>
              <a:t> 2025년 </a:t>
            </a:r>
            <a:r>
              <a:rPr dirty="0" err="1"/>
              <a:t>연구의</a:t>
            </a:r>
            <a:r>
              <a:rPr dirty="0"/>
              <a:t> 4유형 </a:t>
            </a:r>
            <a:r>
              <a:rPr dirty="0" err="1"/>
              <a:t>framework을</a:t>
            </a:r>
            <a:r>
              <a:rPr dirty="0"/>
              <a:t> team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</a:t>
            </a:r>
            <a:r>
              <a:rPr dirty="0" err="1"/>
              <a:t>확장한</a:t>
            </a:r>
            <a:r>
              <a:rPr dirty="0"/>
              <a:t> </a:t>
            </a:r>
            <a:r>
              <a:rPr dirty="0" err="1"/>
              <a:t>것</a:t>
            </a:r>
            <a:r>
              <a:rPr dirty="0"/>
              <a:t>, post-game </a:t>
            </a:r>
            <a:r>
              <a:rPr dirty="0" err="1"/>
              <a:t>통계가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squad </a:t>
            </a:r>
            <a:r>
              <a:rPr dirty="0" err="1"/>
              <a:t>텔레메트리</a:t>
            </a:r>
            <a:r>
              <a:rPr dirty="0"/>
              <a:t> 10초 </a:t>
            </a:r>
            <a:r>
              <a:rPr dirty="0" err="1"/>
              <a:t>데이터에</a:t>
            </a:r>
            <a:r>
              <a:rPr dirty="0"/>
              <a:t> </a:t>
            </a:r>
            <a:r>
              <a:rPr dirty="0" err="1"/>
              <a:t>적용한</a:t>
            </a:r>
            <a:r>
              <a:rPr dirty="0"/>
              <a:t> </a:t>
            </a:r>
            <a:r>
              <a:rPr dirty="0" err="1"/>
              <a:t>것</a:t>
            </a:r>
            <a:r>
              <a:rPr dirty="0"/>
              <a:t>, Louvain </a:t>
            </a:r>
            <a:r>
              <a:rPr dirty="0" err="1"/>
              <a:t>community와</a:t>
            </a:r>
            <a:r>
              <a:rPr dirty="0"/>
              <a:t> PageRank, battle bridge </a:t>
            </a:r>
            <a:r>
              <a:rPr dirty="0" err="1"/>
              <a:t>같은</a:t>
            </a:r>
            <a:r>
              <a:rPr dirty="0"/>
              <a:t> combat network </a:t>
            </a:r>
            <a:r>
              <a:rPr dirty="0" err="1"/>
              <a:t>구조를</a:t>
            </a:r>
            <a:r>
              <a:rPr dirty="0"/>
              <a:t> strategy </a:t>
            </a:r>
            <a:r>
              <a:rPr dirty="0" err="1"/>
              <a:t>점수에</a:t>
            </a:r>
            <a:r>
              <a:rPr dirty="0"/>
              <a:t> </a:t>
            </a:r>
            <a:r>
              <a:rPr dirty="0" err="1"/>
              <a:t>통합한</a:t>
            </a:r>
            <a:r>
              <a:rPr dirty="0"/>
              <a:t> </a:t>
            </a:r>
            <a:r>
              <a:rPr dirty="0" err="1"/>
              <a:t>것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phase별</a:t>
            </a:r>
            <a:r>
              <a:rPr dirty="0"/>
              <a:t> state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분석으로</a:t>
            </a:r>
            <a:r>
              <a:rPr dirty="0"/>
              <a:t> 4유형을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framework으로</a:t>
            </a:r>
            <a:r>
              <a:rPr dirty="0"/>
              <a:t> </a:t>
            </a:r>
            <a:r>
              <a:rPr dirty="0" err="1"/>
              <a:t>발전시킨</a:t>
            </a:r>
            <a:r>
              <a:rPr dirty="0"/>
              <a:t> </a:t>
            </a:r>
            <a:r>
              <a:rPr dirty="0" err="1"/>
              <a:t>점입니다</a:t>
            </a:r>
            <a:r>
              <a:rPr dirty="0"/>
              <a:t>. </a:t>
            </a:r>
            <a:r>
              <a:rPr dirty="0" err="1"/>
              <a:t>감사합니다</a:t>
            </a:r>
            <a:r>
              <a:rPr dirty="0"/>
              <a:t>.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받겠습니다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170000"/>
            <a:ext cx="10670000" cy="1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E8ECF1"/>
                </a:solidFill>
                <a:latin typeface="Segoe UI Semibold"/>
              </a:rPr>
              <a:t>PUBG Squad Combat Networks:</a:t>
            </a:r>
          </a:p>
          <a:p>
            <a:pPr algn="l">
              <a:lnSpc>
                <a:spcPct val="115000"/>
              </a:lnSpc>
            </a:pPr>
            <a:r>
              <a:rPr sz="3600" b="1">
                <a:solidFill>
                  <a:srgbClr val="E8ECF1"/>
                </a:solidFill>
                <a:latin typeface="Segoe UI Semibold"/>
              </a:rPr>
              <a:t>Phase-Dynamic Strategy Types and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3000" y="4400000"/>
            <a:ext cx="7800000" cy="67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64000" y="4995000"/>
            <a:ext cx="496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400" b="1">
                <a:solidFill>
                  <a:srgbClr val="E8ECF1"/>
                </a:solidFill>
                <a:latin typeface="Segoe UI Semibold"/>
              </a:rPr>
              <a:t>Pusan National University</a:t>
            </a:r>
          </a:p>
          <a:p>
            <a:pPr algn="r">
              <a:lnSpc>
                <a:spcPct val="125000"/>
              </a:lnSpc>
            </a:pPr>
            <a:r>
              <a:rPr sz="2400" b="1">
                <a:solidFill>
                  <a:srgbClr val="E8ECF1"/>
                </a:solidFill>
                <a:latin typeface="Segoe UI Semibold"/>
              </a:rPr>
              <a:t>Data Science</a:t>
            </a:r>
          </a:p>
          <a:p>
            <a:pPr algn="r">
              <a:lnSpc>
                <a:spcPct val="125000"/>
              </a:lnSpc>
            </a:pPr>
            <a:r>
              <a:rPr sz="2400" b="1">
                <a:solidFill>
                  <a:srgbClr val="E8ECF1"/>
                </a:solidFill>
                <a:latin typeface="Segoe UI Semibold"/>
              </a:rPr>
              <a:t>Baek Seong Eun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Research Background — PUBG as a Combat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21000" y="1500000"/>
            <a:ext cx="3450000" cy="36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1000" y="1750000"/>
            <a:ext cx="295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2A5F5"/>
                </a:solidFill>
                <a:latin typeface="Segoe UI Semibold"/>
              </a:rPr>
              <a:t>1) PUBG  —  Battle Royale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000" y="2550000"/>
            <a:ext cx="289000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100 players in up to 25 SQUADS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Shrinking safe zone forces engagements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Last surviving team wins the match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Combat between teams is the core mechanic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1000" y="1500000"/>
            <a:ext cx="3450000" cy="36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21000" y="1750000"/>
            <a:ext cx="295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BCD4"/>
                </a:solidFill>
                <a:latin typeface="Segoe UI Semibold"/>
              </a:rPr>
              <a:t>2) Combat connects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1000" y="2550000"/>
            <a:ext cx="289000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A damage event between Team A and Team B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 = an interaction (relationship)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Repeated events build a relationship structure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→ a natural NETWORK over teams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1000" y="1500000"/>
            <a:ext cx="3450000" cy="36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1000" y="1750000"/>
            <a:ext cx="295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F5350"/>
                </a:solidFill>
                <a:latin typeface="Segoe UI Semibold"/>
              </a:rPr>
              <a:t>3) Each match is a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1000" y="2550000"/>
            <a:ext cx="289000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Nodes V = teams in the match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Edges E = teams that engaged in combat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Edge weight = cumulative damage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Question: does a team's NETWORK position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•  predict its final rank?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50000"/>
            <a:ext cx="1067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BCD4"/>
                </a:solidFill>
                <a:latin typeface="Segoe UI Semibold"/>
              </a:rPr>
              <a:t>→  We model PUBG squad matches as inter-team combat networks and study the link between network position and competitive outcome.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Prior Research — Sagong et al.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450000"/>
            <a:ext cx="10670000" cy="7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000" y="1580000"/>
            <a:ext cx="1017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BCD4"/>
                </a:solidFill>
                <a:latin typeface="Segoe UI Semibold"/>
              </a:rPr>
              <a:t>Entertainment Computing 55, 101040  ·  Phase-by-phase player typing &amp; next-phase survival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2000" y="1880000"/>
            <a:ext cx="101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Models: Random Forest · Logistic Regression · XGBoost (best 87.9 % accuracy)  ·  Source: Kaggle PUBG, post-game player stats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1000" y="2350000"/>
            <a:ext cx="3450000" cy="36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1000" y="255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F5350"/>
                </a:solidFill>
                <a:latin typeface="Segoe UI Semibold"/>
              </a:rPr>
              <a:t>FightScore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000" y="3150000"/>
            <a:ext cx="3050000" cy="48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1000" y="3230000"/>
            <a:ext cx="29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= Σ aggressiveness features  (k = 1..4)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1000" y="3800000"/>
            <a:ext cx="29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0BEC5"/>
                </a:solidFill>
                <a:latin typeface="Segoe UI Semibold"/>
              </a:rPr>
              <a:t>Aggressiveness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000" y="4200000"/>
            <a:ext cx="289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phase_attack_count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phase_kill_count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phase_total_damage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phase_assist_count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1000" y="2350000"/>
            <a:ext cx="3450000" cy="36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1000" y="255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2A5F5"/>
                </a:solidFill>
                <a:latin typeface="Segoe UI Semibold"/>
              </a:rPr>
              <a:t>ActiveScore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1000" y="3150000"/>
            <a:ext cx="3050000" cy="48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1000" y="3230000"/>
            <a:ext cx="29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= Σ activeness features  (m = 1..4)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1000" y="3800000"/>
            <a:ext cx="29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0BEC5"/>
                </a:solidFill>
                <a:latin typeface="Segoe UI Semibold"/>
              </a:rPr>
              <a:t>Activeness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1000" y="4200000"/>
            <a:ext cx="2890000" cy="1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distance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phase_max_density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phase_item_count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E8ECF1"/>
                </a:solidFill>
                <a:latin typeface="Menlo"/>
              </a:rPr>
              <a:t>•  carepackage_use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1000" y="5550000"/>
            <a:ext cx="289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B0BEC5"/>
                </a:solidFill>
                <a:latin typeface="Segoe UI Semibold"/>
              </a:rPr>
              <a:t>max_density = players within 100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350000"/>
            <a:ext cx="3450000" cy="36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1000" y="255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BCD4"/>
                </a:solidFill>
                <a:latin typeface="Segoe UI Semibold"/>
              </a:rPr>
              <a:t>4 player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1000" y="3050000"/>
            <a:ext cx="295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phase-mean split on both scores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1000" y="3630000"/>
            <a:ext cx="70000" cy="38000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1000" y="360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F5350"/>
                </a:solidFill>
                <a:latin typeface="Segoe UI Semibold"/>
              </a:rPr>
              <a:t>Hunter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1000" y="3620000"/>
            <a:ext cx="175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8ECF1"/>
                </a:solidFill>
                <a:latin typeface="Menlo"/>
              </a:rPr>
              <a:t>high F  ·  high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000" y="3870000"/>
            <a:ext cx="29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aggressive + mobile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1000" y="4230000"/>
            <a:ext cx="70000" cy="38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81000" y="420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F00"/>
                </a:solidFill>
                <a:latin typeface="Segoe UI Semibold"/>
              </a:rPr>
              <a:t>Sniper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1000" y="4220000"/>
            <a:ext cx="175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8ECF1"/>
                </a:solidFill>
                <a:latin typeface="Menlo"/>
              </a:rPr>
              <a:t>high F  ·  low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000" y="4470000"/>
            <a:ext cx="29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aggressive, stationary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1000" y="4830000"/>
            <a:ext cx="70000" cy="3800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81000" y="480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2A5F5"/>
                </a:solidFill>
                <a:latin typeface="Segoe UI Semibold"/>
              </a:rPr>
              <a:t>Traveler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1000" y="4820000"/>
            <a:ext cx="175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8ECF1"/>
                </a:solidFill>
                <a:latin typeface="Menlo"/>
              </a:rPr>
              <a:t>low F  ·  high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1000" y="5070000"/>
            <a:ext cx="29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mobile, low combat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1000" y="5430000"/>
            <a:ext cx="70000" cy="3800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81000" y="5400000"/>
            <a:ext cx="13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6BB6A"/>
                </a:solidFill>
                <a:latin typeface="Segoe UI Semibold"/>
              </a:rPr>
              <a:t>Camper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1000" y="5420000"/>
            <a:ext cx="175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8ECF1"/>
                </a:solidFill>
                <a:latin typeface="Menlo"/>
              </a:rPr>
              <a:t>low F  ·  low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1000" y="5670000"/>
            <a:ext cx="29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hidden, avoids combat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What We Adopt and How We Extend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430000"/>
            <a:ext cx="10670000" cy="48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000" y="1520000"/>
            <a:ext cx="1017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BCD4"/>
                </a:solidFill>
                <a:latin typeface="Segoe UI Semibold"/>
              </a:rPr>
              <a:t>We KEEP the 4-type taxonomy (Hunter / Sniper / Traveler / Camper) and EXTEND it on 4 axes: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000" y="2010000"/>
            <a:ext cx="2540000" cy="14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1000" y="2160000"/>
            <a:ext cx="214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2A5F5"/>
                </a:solidFill>
                <a:latin typeface="Segoe UI Semibold"/>
              </a:rPr>
              <a:t>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000" y="2610000"/>
            <a:ext cx="214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ECF1"/>
                </a:solidFill>
                <a:latin typeface="Segoe UI Semibold"/>
              </a:rPr>
              <a:t>Player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ECF1"/>
                </a:solidFill>
                <a:latin typeface="Segoe UI Semibold"/>
              </a:rPr>
              <a:t>→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1000" y="2010000"/>
            <a:ext cx="2540000" cy="14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1000" y="2160000"/>
            <a:ext cx="214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6BB6A"/>
                </a:solidFill>
                <a:latin typeface="Segoe UI Semibold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000" y="2610000"/>
            <a:ext cx="2140000" cy="486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E8ECF1"/>
                </a:solidFill>
                <a:latin typeface="Segoe UI Semibold"/>
              </a:rPr>
              <a:t>Kaggle post-game</a:t>
            </a:r>
          </a:p>
          <a:p>
            <a:pPr algn="l">
              <a:lnSpc>
                <a:spcPct val="140000"/>
              </a:lnSpc>
            </a:pPr>
            <a:r>
              <a:rPr sz="1200" b="1" dirty="0">
                <a:solidFill>
                  <a:srgbClr val="E8ECF1"/>
                </a:solidFill>
                <a:latin typeface="Segoe UI Semibold"/>
              </a:rPr>
              <a:t>→ </a:t>
            </a:r>
            <a:r>
              <a:rPr lang="en-US" sz="1200" b="1" dirty="0" err="1">
                <a:solidFill>
                  <a:srgbClr val="E8ECF1"/>
                </a:solidFill>
                <a:latin typeface="Segoe UI Semibold"/>
              </a:rPr>
              <a:t>BattleGround</a:t>
            </a:r>
            <a:r>
              <a:rPr lang="en-US" sz="1200" b="1" dirty="0">
                <a:solidFill>
                  <a:srgbClr val="E8ECF1"/>
                </a:solidFill>
                <a:latin typeface="Segoe UI Semibold"/>
              </a:rPr>
              <a:t> API</a:t>
            </a:r>
            <a:endParaRPr sz="1200" b="1" dirty="0">
              <a:solidFill>
                <a:srgbClr val="E8ECF1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81000" y="2010000"/>
            <a:ext cx="2540000" cy="14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1000" y="2160000"/>
            <a:ext cx="214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6F00"/>
                </a:solidFill>
                <a:latin typeface="Segoe UI Semibold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000" y="2610000"/>
            <a:ext cx="214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ECF1"/>
                </a:solidFill>
                <a:latin typeface="Segoe UI Semibold"/>
              </a:rPr>
              <a:t>Aggregate stats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ECF1"/>
                </a:solidFill>
                <a:latin typeface="Segoe UI Semibold"/>
              </a:rPr>
              <a:t>→ Network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1000" y="2010000"/>
            <a:ext cx="2540000" cy="145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1000" y="2160000"/>
            <a:ext cx="214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F5350"/>
                </a:solidFill>
                <a:latin typeface="Segoe UI Semibold"/>
              </a:rP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1000" y="2610000"/>
            <a:ext cx="21400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ECF1"/>
                </a:solidFill>
                <a:latin typeface="Segoe UI Semibold"/>
              </a:rPr>
              <a:t>Static type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E8ECF1"/>
                </a:solidFill>
                <a:latin typeface="Segoe UI Semibold"/>
              </a:rPr>
              <a:t>→ Phase-dynamic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710000"/>
            <a:ext cx="106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0BEC5"/>
                </a:solidFill>
                <a:latin typeface="Segoe UI Semibold"/>
              </a:rPr>
              <a:t>RESEARCH QUESTIONS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000" y="4030000"/>
            <a:ext cx="3450000" cy="2628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00" y="413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BCD4"/>
                </a:solidFill>
                <a:latin typeface="Segoe UI Semibold"/>
              </a:rPr>
              <a:t>RQ1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00" y="4610000"/>
            <a:ext cx="29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Network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00" y="5030000"/>
            <a:ext cx="2950000" cy="152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Does a team's structural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position in the combat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graph predict its final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rank?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1000" y="4030000"/>
            <a:ext cx="3450000" cy="2628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21000" y="413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6F00"/>
                </a:solidFill>
                <a:latin typeface="Segoe UI Semibold"/>
              </a:rPr>
              <a:t>RQ2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1000" y="4610000"/>
            <a:ext cx="29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ST Hypotheses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1000" y="5030000"/>
            <a:ext cx="2950000" cy="152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Hotzone vs outer farm,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combat participation,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movement (camping)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— formally tested.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1000" y="4030000"/>
            <a:ext cx="3450000" cy="2628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1000" y="413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F5350"/>
                </a:solidFill>
                <a:latin typeface="Segoe UI Semibold"/>
              </a:rPr>
              <a:t>RQ3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1000" y="4610000"/>
            <a:ext cx="29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Strategy as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1000" y="5030000"/>
            <a:ext cx="2950000" cy="152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Are the 4 types fixed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personalities, or do they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switch between phases?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Data — Baltic_Main Squad (n = 1,000)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1000" y="1450000"/>
            <a:ext cx="2050000" cy="24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000" y="2050000"/>
            <a:ext cx="205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00BCD4"/>
                </a:solidFill>
                <a:latin typeface="Segoe UI Semibold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000" y="2950000"/>
            <a:ext cx="185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matches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1000" y="1450000"/>
            <a:ext cx="2050000" cy="24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1000" y="2050000"/>
            <a:ext cx="205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42A5F5"/>
                </a:solidFill>
                <a:latin typeface="Segoe UI Semibold"/>
              </a:rPr>
              <a:t>26,513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1000" y="2950000"/>
            <a:ext cx="185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team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1000" y="1450000"/>
            <a:ext cx="2050000" cy="24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1000" y="2050000"/>
            <a:ext cx="205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EF5350"/>
                </a:solidFill>
                <a:latin typeface="Segoe UI Semibold"/>
              </a:rPr>
              <a:t>57,174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1000" y="2950000"/>
            <a:ext cx="185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inter-team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combat edges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1000" y="1450000"/>
            <a:ext cx="2050000" cy="24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1000" y="2050000"/>
            <a:ext cx="205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6F00"/>
                </a:solidFill>
                <a:latin typeface="Segoe UI Semibold"/>
              </a:rPr>
              <a:t>734k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1000" y="2950000"/>
            <a:ext cx="185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ST centroid rows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(10s)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1000" y="1450000"/>
            <a:ext cx="2050000" cy="24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1000" y="2050000"/>
            <a:ext cx="205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66BB6A"/>
                </a:solidFill>
                <a:latin typeface="Segoe UI Semibold"/>
              </a:rPr>
              <a:t>74,329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1000" y="2950000"/>
            <a:ext cx="185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team-phase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400000"/>
            <a:ext cx="1067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8ECF1"/>
                </a:solidFill>
                <a:latin typeface="Segoe UI Semibold"/>
              </a:rPr>
              <a:t>Edge weight = cumulative damage. Two graph types built: full-match graph + per-phase dynamic graph.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900000"/>
            <a:ext cx="1067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Source: PostgreSQL telem_damage / telem_phase_changes / participants / rosters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Network Definition  (PUBG → Graph)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1000" y="1450000"/>
            <a:ext cx="3450000" cy="27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1000" y="165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2A5F5"/>
                </a:solidFill>
                <a:latin typeface="Segoe UI Semibold"/>
              </a:rPr>
              <a:t>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000" y="2250000"/>
            <a:ext cx="3050000" cy="50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1000" y="2300000"/>
            <a:ext cx="295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CF1"/>
                </a:solidFill>
                <a:latin typeface="Menlo"/>
              </a:rPr>
              <a:t>V = { team_id × match_id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1000" y="2900000"/>
            <a:ext cx="2890000" cy="1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One team in one match = one node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26,513 nodes across 1,000 matches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Phase graph: V = team_id × match_id × 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000" y="1450000"/>
            <a:ext cx="3450000" cy="27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1000" y="165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6F00"/>
                </a:solidFill>
                <a:latin typeface="Segoe UI Semibold"/>
              </a:rPr>
              <a:t>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1000" y="2250000"/>
            <a:ext cx="3050000" cy="50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1000" y="2300000"/>
            <a:ext cx="295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CF1"/>
                </a:solidFill>
                <a:latin typeface="Menlo"/>
              </a:rPr>
              <a:t>E = { (A, B) : ≥ 1 damage event A ↔ B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000" y="2900000"/>
            <a:ext cx="2890000" cy="1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Undirected (who attacked first ignored)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Excludes: intra-team damage, bluezone, unmappable attacker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57,174 edges total (full graph)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450000"/>
            <a:ext cx="3450000" cy="27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1000" y="165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BCD4"/>
                </a:solidFill>
                <a:latin typeface="Segoe UI Semibold"/>
              </a:rPr>
              <a:t>WEIGHT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1000" y="2250000"/>
            <a:ext cx="3050000" cy="70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1000" y="2300000"/>
            <a:ext cx="295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CF1"/>
                </a:solidFill>
                <a:latin typeface="Menlo"/>
              </a:rPr>
              <a:t>w(A, B) = Σ damage(A, B)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E8ECF1"/>
                </a:solidFill>
                <a:latin typeface="Menlo"/>
              </a:rPr>
              <a:t>n(A, B) = # damage events(A, 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1000" y="3100000"/>
            <a:ext cx="2890000" cy="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Cumulative damage between teams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Event count as auxiliary weight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•  Per-phase: weights restricted to phase time window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4430000"/>
            <a:ext cx="10670000" cy="9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0000" y="4630000"/>
            <a:ext cx="35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F5350"/>
                </a:solidFill>
                <a:latin typeface="Segoe UI Semibold"/>
              </a:rPr>
              <a:t>PHASE-DYNAMIC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00" y="4910000"/>
            <a:ext cx="35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Node = team × match × phase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00" y="4710000"/>
            <a:ext cx="67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CF1"/>
                </a:solidFill>
                <a:latin typeface="Segoe UI Semibold"/>
              </a:rPr>
              <a:t>Same construction restricted to each phase time window  →  8 phase slices per match.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00" y="5010000"/>
            <a:ext cx="67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A team appears as a separate node in every phase it survives  (74,329 team-phase nodes total).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Network Metrics &amp; Concepts  (used in later results)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1000" y="1450000"/>
            <a:ext cx="3450000" cy="22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1000" y="160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2A5F5"/>
                </a:solidFill>
                <a:latin typeface="Segoe UI Semibold"/>
              </a:rPr>
              <a:t>Degree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1000" y="215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0BEC5"/>
                </a:solidFill>
                <a:latin typeface="Segoe UI Semibold"/>
              </a:rPr>
              <a:t>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000" y="240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directly connected nodes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1000" y="300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2A5F5"/>
                </a:solidFill>
                <a:latin typeface="Segoe UI Semibold"/>
              </a:rPr>
              <a:t>IN PUBG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1000" y="325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# of opponent teams a team fought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1000" y="1450000"/>
            <a:ext cx="3450000" cy="22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1000" y="160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6F00"/>
                </a:solidFill>
                <a:latin typeface="Segoe UI Semibold"/>
              </a:rPr>
              <a:t>Betweenness centrality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1000" y="215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0BEC5"/>
                </a:solidFill>
                <a:latin typeface="Segoe UI Semibold"/>
              </a:rPr>
              <a:t>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000" y="240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how often a node lies on shortest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1000" y="300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6F00"/>
                </a:solidFill>
                <a:latin typeface="Segoe UI Semibold"/>
              </a:rPr>
              <a:t>IN PUBG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1000" y="325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team that bridges several combat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450000"/>
            <a:ext cx="3450000" cy="22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1000" y="160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F5350"/>
                </a:solidFill>
                <a:latin typeface="Segoe UI Semibold"/>
              </a:rPr>
              <a:t>PageRank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1000" y="215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0BEC5"/>
                </a:solidFill>
                <a:latin typeface="Segoe UI Semibold"/>
              </a:rPr>
              <a:t>GENERAL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1000" y="240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importance from connections to important nodes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000" y="300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F5350"/>
                </a:solidFill>
                <a:latin typeface="Segoe UI Semibold"/>
              </a:rPr>
              <a:t>IN PUBG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1000" y="3146968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E8ECF1"/>
                </a:solidFill>
                <a:latin typeface="Segoe UI Semibold"/>
              </a:rPr>
              <a:t>team connected to strong / central opponents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1000" y="3870000"/>
            <a:ext cx="3450000" cy="22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1000" y="402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BB6A"/>
                </a:solidFill>
                <a:latin typeface="Segoe UI Semibold"/>
              </a:rPr>
              <a:t>Louvain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000" y="457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0BEC5"/>
                </a:solidFill>
                <a:latin typeface="Segoe UI Semibold"/>
              </a:rPr>
              <a:t>GENERAL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1000" y="482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densely-connected subgroup of nodes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00" y="542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6BB6A"/>
                </a:solidFill>
                <a:latin typeface="Segoe UI Semibold"/>
              </a:rPr>
              <a:t>IN PUBG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000" y="567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local engagement cluster within a match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1000" y="3870000"/>
            <a:ext cx="3450000" cy="22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21000" y="402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BCD4"/>
                </a:solidFill>
                <a:latin typeface="Segoe UI Semibold"/>
              </a:rPr>
              <a:t>Modularity 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1000" y="457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0BEC5"/>
                </a:solidFill>
                <a:latin typeface="Segoe UI Semibold"/>
              </a:rPr>
              <a:t>GENERAL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1000" y="482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strength of community structure (0–1)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1000" y="542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0BCD4"/>
                </a:solidFill>
                <a:latin typeface="Segoe UI Semibold"/>
              </a:rPr>
              <a:t>IN PUBG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1000" y="567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how clearly the match splits into clusters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3870000"/>
            <a:ext cx="3450000" cy="22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AB4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51000" y="4020000"/>
            <a:ext cx="295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B47BC"/>
                </a:solidFill>
                <a:latin typeface="Segoe UI Semibold"/>
              </a:rPr>
              <a:t>Battle bridge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1000" y="457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0BEC5"/>
                </a:solidFill>
                <a:latin typeface="Segoe UI Semibold"/>
              </a:rPr>
              <a:t>GENERAL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1000" y="482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links across different communities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1000" y="5420000"/>
            <a:ext cx="289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AB47BC"/>
                </a:solidFill>
                <a:latin typeface="Segoe UI Semibold"/>
              </a:rPr>
              <a:t>IN PUBG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1000" y="5670000"/>
            <a:ext cx="289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team that connects separate combat zones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Result  —  Combat Network Has Real Community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dularit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50000"/>
            <a:ext cx="7200000" cy="44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00000" y="1450000"/>
            <a:ext cx="3450000" cy="6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00000" y="1530000"/>
            <a:ext cx="345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ECF1"/>
                </a:solidFill>
                <a:latin typeface="Segoe UI Semibold"/>
              </a:rPr>
              <a:t>Avg Louvain Q = 0.592 — combat splits into engagement clusters, not a random brawl.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000" y="2900000"/>
            <a:ext cx="3450000" cy="2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~ 6.2 communities per match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Giant component covers 97.3 % of teams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Density 0.130 — only 13 % of pairs fight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Most teams join one big graph but battle inside local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Network Position Predicts Final Rank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1000" y="1430000"/>
            <a:ext cx="2540000" cy="13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1000" y="1560000"/>
            <a:ext cx="214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2A5F5"/>
                </a:solidFill>
                <a:latin typeface="Segoe UI Semibold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000" y="196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degree &gt;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000" y="222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betweenness TOP 25 %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000" y="2480000"/>
            <a:ext cx="214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bridges multiple combat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1000" y="1430000"/>
            <a:ext cx="2540000" cy="13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1000" y="1560000"/>
            <a:ext cx="214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BCD4"/>
                </a:solidFill>
                <a:latin typeface="Segoe UI Semibold"/>
              </a:rPr>
              <a:t>mid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000" y="196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degree &gt;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1000" y="222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betweenness mid 50 %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1000" y="2480000"/>
            <a:ext cx="214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moderate combat connectivity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000" y="1430000"/>
            <a:ext cx="2540000" cy="13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1000" y="1560000"/>
            <a:ext cx="214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6F00"/>
                </a:solidFill>
                <a:latin typeface="Segoe UI Semibold"/>
              </a:rPr>
              <a:t>peripheral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000" y="196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degree &gt;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000" y="222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betweenness BOTTOM 25 %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000" y="2480000"/>
            <a:ext cx="214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fights at network edge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1000" y="1430000"/>
            <a:ext cx="2540000" cy="13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1000" y="1560000"/>
            <a:ext cx="214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F5350"/>
                </a:solidFill>
                <a:latin typeface="Segoe UI Semibold"/>
              </a:rPr>
              <a:t>isolated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1000" y="196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degree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1000" y="222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ECF1"/>
                </a:solidFill>
                <a:latin typeface="Menlo"/>
              </a:rPr>
              <a:t>no team-team damage 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1000" y="2480000"/>
            <a:ext cx="214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no observed combat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2780000"/>
            <a:ext cx="1067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Within each match: 4 categories partitioned by team-team damage degree and betweenness centrality quartile.</a:t>
            </a:r>
          </a:p>
        </p:txBody>
      </p:sp>
      <p:pic>
        <p:nvPicPr>
          <p:cNvPr id="26" name="Picture 25" descr="position_rank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10000"/>
            <a:ext cx="6900000" cy="3548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900000" y="3110000"/>
            <a:ext cx="3750000" cy="6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0000" y="3190000"/>
            <a:ext cx="375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ECF1"/>
                </a:solidFill>
                <a:latin typeface="Segoe UI Semibold"/>
              </a:rPr>
              <a:t>Core 7.6  →  isolated 17.8.  Centrality is rank.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000" y="4560000"/>
            <a:ext cx="3750000" cy="209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core = 7.60   (n = 6,490)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mid = 12.88   (n = 6,595)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peripheral = 17.71  (n = 12,937)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isolated = 17.77  (n = 491)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Battle-bridge &amp; PageRank top vs bottom: 6.8 vs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ST H1  —  Hotzone vs Outer Farm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430000"/>
            <a:ext cx="10670000" cy="6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AB4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000" y="1510000"/>
            <a:ext cx="17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B47BC"/>
                </a:solidFill>
                <a:latin typeface="Segoe UI Semibold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2000" y="1560000"/>
            <a:ext cx="8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Teams that land in OUTER FARM zones outperform HOTZONE landers in final rank and RP proxy.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180000"/>
            <a:ext cx="5300000" cy="11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2000" y="2310000"/>
            <a:ext cx="4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F5350"/>
                </a:solidFill>
                <a:latin typeface="Segoe UI Semibold"/>
              </a:rPr>
              <a:t>hotzone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2000" y="271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TOP 25 % landing density (per match)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2000" y="298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many teams crowded the same drop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2000" y="2180000"/>
            <a:ext cx="5300000" cy="11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2000" y="2310000"/>
            <a:ext cx="4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BB6A"/>
                </a:solidFill>
                <a:latin typeface="Segoe UI Semibold"/>
              </a:rPr>
              <a:t>outer_farm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2000" y="271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BOTTOM 25 % landing density (farthest from hotzones)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2000" y="298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isolated drops, far from the dense area</a:t>
            </a:r>
          </a:p>
        </p:txBody>
      </p:sp>
      <p:pic>
        <p:nvPicPr>
          <p:cNvPr id="16" name="Picture 15" descr="farm_group_rank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30000"/>
            <a:ext cx="6900000" cy="3128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900000" y="3530000"/>
            <a:ext cx="3750000" cy="6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0000" y="3610000"/>
            <a:ext cx="375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66BB6A"/>
                </a:solidFill>
                <a:latin typeface="Segoe UI Semibold"/>
              </a:rPr>
              <a:t>Outer farm wins on rank &amp; RP — hotzone gets more kills but earlier elimination.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000" y="4980000"/>
            <a:ext cx="3750000" cy="16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Hotzone:    kills 4.04, rank 16.68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Outer farm: kills 3.05, rank 12.19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RP proxy: −0.22 vs +0.18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p = 4 × 10⁻²³² (rank diff)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Hypothesis SUPPORTED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ST H2  —  Combat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430000"/>
            <a:ext cx="10670000" cy="6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AB4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000" y="1510000"/>
            <a:ext cx="17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B47BC"/>
                </a:solidFill>
                <a:latin typeface="Segoe UI Semibold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2000" y="1560000"/>
            <a:ext cx="8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Teams with HIGHER combat participation rate finish at HIGHER rank.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180000"/>
            <a:ext cx="10670000" cy="11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2000" y="2310000"/>
            <a:ext cx="1017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6F00"/>
                </a:solidFill>
                <a:latin typeface="Menlo"/>
              </a:rPr>
              <a:t>combat_st_participation_rate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2000" y="2710000"/>
            <a:ext cx="101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= (frames where the team appears as attacker OR victim)  ÷  (post-landing 10s survival frames)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2000" y="2980000"/>
            <a:ext cx="101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Groups: low (bottom 25 %)  ·  mid (middle 50 %)  ·  high (top 25 %)</a:t>
            </a:r>
          </a:p>
        </p:txBody>
      </p:sp>
      <p:pic>
        <p:nvPicPr>
          <p:cNvPr id="12" name="Picture 11" descr="combat_group_rank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30000"/>
            <a:ext cx="6900000" cy="3128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900000" y="3530000"/>
            <a:ext cx="3750000" cy="6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0000" y="3610000"/>
            <a:ext cx="375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F5350"/>
                </a:solidFill>
                <a:latin typeface="Segoe UI Semibold"/>
              </a:rPr>
              <a:t>More fighting ≠ better. Mid-combat group has the best RP.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000" y="4980000"/>
            <a:ext cx="3750000" cy="16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Low combat:   rank 10.72, RP −0.08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Mid combat:   rank 12.76, RP +0.42  ← best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High combat:  rank 19.60, RP −0.66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High-combat survives only 514 s on avg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Hypothesis REJECTED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ST H3  —  Movement / Camping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430000"/>
            <a:ext cx="10670000" cy="6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AB4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000" y="1510000"/>
            <a:ext cx="17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B47BC"/>
                </a:solidFill>
                <a:latin typeface="Segoe UI Semibold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2000" y="1560000"/>
            <a:ext cx="86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Sedentary (camping) teams outperform mobile teams in final rank.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180000"/>
            <a:ext cx="5300000" cy="11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AB4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2000" y="2310000"/>
            <a:ext cx="4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B47BC"/>
                </a:solidFill>
                <a:latin typeface="Segoe UI Semibold"/>
              </a:rPr>
              <a:t>fixed_sedentary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2000" y="271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BOTTOM 25 % movement in a 600 s post-landing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2000" y="298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fixed window controls for early-elimination bias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2000" y="2180000"/>
            <a:ext cx="5300000" cy="11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2000" y="2310000"/>
            <a:ext cx="4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BCD4"/>
                </a:solidFill>
                <a:latin typeface="Segoe UI Semibold"/>
              </a:rPr>
              <a:t>fixed_mobile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2000" y="271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TOP 25 % movement in the same 600 s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2000" y="2980000"/>
            <a:ext cx="48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only teams that survived the full window are compared</a:t>
            </a:r>
          </a:p>
        </p:txBody>
      </p:sp>
      <p:pic>
        <p:nvPicPr>
          <p:cNvPr id="16" name="Picture 15" descr="movement_group_rank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30000"/>
            <a:ext cx="6900000" cy="3128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900000" y="3530000"/>
            <a:ext cx="3750000" cy="6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0000" y="3610000"/>
            <a:ext cx="375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F5350"/>
                </a:solidFill>
                <a:latin typeface="Segoe UI Semibold"/>
              </a:rPr>
              <a:t>Mobile teams beat sedentary teams — even with the same observation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000" y="4980000"/>
            <a:ext cx="3750000" cy="16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Sedentary: rank 9.23, RP +1.00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Mobile:    rank 7.43, RP +1.48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p = 2 × 10⁻⁶⁰ (rank diff)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Re-checked per phase: same result for phases 1-3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Hypothesis REJECTED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ECF1"/>
                </a:solidFill>
                <a:latin typeface="Segoe UI Semibold"/>
              </a:rPr>
              <a:t>Our Strategy Type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00000" y="800000"/>
            <a:ext cx="97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BCD4"/>
                </a:solidFill>
                <a:latin typeface="Segoe UI Semibold"/>
              </a:rPr>
              <a:t>Network FightScore × Network ActiveScore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280000"/>
            <a:ext cx="10670000" cy="380000"/>
          </a:xfrm>
          <a:prstGeom prst="rect">
            <a:avLst/>
          </a:prstGeom>
          <a:solidFill>
            <a:srgbClr val="1B2838"/>
          </a:solidFill>
          <a:ln w="63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2000" y="1350000"/>
            <a:ext cx="1017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Sagong defined the scores from raw aggressiveness/activeness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000" y="1480000"/>
            <a:ext cx="1017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BCD4"/>
                </a:solidFill>
                <a:latin typeface="Segoe UI Semibold"/>
              </a:rPr>
              <a:t>We REDEFINE both scores using NETWORK metrics — keeping the same 4 type names.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1780000"/>
            <a:ext cx="5300000" cy="34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2000" y="1960000"/>
            <a:ext cx="4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F5350"/>
                </a:solidFill>
                <a:latin typeface="Segoe UI Semibold"/>
              </a:rPr>
              <a:t>Network FightScore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000" y="2500000"/>
            <a:ext cx="4900000" cy="36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2000" y="2550000"/>
            <a:ext cx="4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= mean( z(...) of 6 components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000" y="2960000"/>
            <a:ext cx="4740000" cy="2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combat_st_participation_rate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combat_event_rate_per_min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degree_per_min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weighted_deg_per_min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c_pagerank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battle_bridge_score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2000" y="1780000"/>
            <a:ext cx="5300000" cy="34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2000" y="1960000"/>
            <a:ext cx="4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2A5F5"/>
                </a:solidFill>
                <a:latin typeface="Segoe UI Semibold"/>
              </a:rPr>
              <a:t>Network ActiveScore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2000" y="2500000"/>
            <a:ext cx="4900000" cy="360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2000" y="2550000"/>
            <a:ext cx="4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CF1"/>
                </a:solidFill>
                <a:latin typeface="Menlo"/>
              </a:rPr>
              <a:t>= mean( z(...) of 5 components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2000" y="2960000"/>
            <a:ext cx="4740000" cy="2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movement_per_min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movement_active_frame_rate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position_std_m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landing_density_score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E8ECF1"/>
                </a:solidFill>
                <a:latin typeface="Menlo"/>
              </a:rPr>
              <a:t>•  landing_neighbor_count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360000"/>
            <a:ext cx="1067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0BCD4"/>
                </a:solidFill>
                <a:latin typeface="Segoe UI Semibold"/>
              </a:rPr>
              <a:t>→  Match-wise median split on both scores  →  same 4 type names (no kill / assist leakage):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1000" y="5680000"/>
            <a:ext cx="2540000" cy="988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1000" y="571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F5350"/>
                </a:solidFill>
                <a:latin typeface="Segoe UI Semibold"/>
              </a:rPr>
              <a:t>Hunter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00" y="6124701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dirty="0">
                <a:solidFill>
                  <a:srgbClr val="E8ECF1"/>
                </a:solidFill>
                <a:latin typeface="Menlo"/>
              </a:rPr>
              <a:t>high F · high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1000" y="5680000"/>
            <a:ext cx="2540000" cy="988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71000" y="571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6F00"/>
                </a:solidFill>
                <a:latin typeface="Segoe UI Semibold"/>
              </a:rPr>
              <a:t>Sniper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1000" y="6111822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dirty="0">
                <a:solidFill>
                  <a:srgbClr val="E8ECF1"/>
                </a:solidFill>
                <a:latin typeface="Menlo"/>
              </a:rPr>
              <a:t>high F · low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000" y="5680000"/>
            <a:ext cx="2540000" cy="988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1000" y="571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A5F5"/>
                </a:solidFill>
                <a:latin typeface="Segoe UI Semibold"/>
              </a:rPr>
              <a:t>Traveler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000" y="6111822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dirty="0">
                <a:solidFill>
                  <a:srgbClr val="E8ECF1"/>
                </a:solidFill>
                <a:latin typeface="Menlo"/>
              </a:rPr>
              <a:t>low F · high 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1000" y="5680000"/>
            <a:ext cx="2540000" cy="988000"/>
          </a:xfrm>
          <a:prstGeom prst="rect">
            <a:avLst/>
          </a:prstGeom>
          <a:solidFill>
            <a:srgbClr val="1B2838"/>
          </a:solidFill>
          <a:ln w="63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91000" y="5710000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66BB6A"/>
                </a:solidFill>
                <a:latin typeface="Segoe UI Semibold"/>
              </a:rPr>
              <a:t>Camper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1000" y="6111822"/>
            <a:ext cx="214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ECF1"/>
                </a:solidFill>
                <a:latin typeface="Menlo"/>
              </a:rPr>
              <a:t>low F · low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Result  —  Strategy Type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trategy_type_rank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50000"/>
            <a:ext cx="6900000" cy="4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0000" y="1450000"/>
            <a:ext cx="3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F5350"/>
                </a:solidFill>
                <a:latin typeface="Segoe UI Semibold"/>
              </a:rPr>
              <a:t>Hunter wins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0000" y="2050000"/>
            <a:ext cx="3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rank · RP · kills · top-10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0000" y="2900000"/>
            <a:ext cx="13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0000" y="2900000"/>
            <a:ext cx="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0000" y="2900000"/>
            <a:ext cx="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0000" y="2900000"/>
            <a:ext cx="8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B0BEC5"/>
                </a:solidFill>
                <a:latin typeface="Segoe UI Semibold"/>
              </a:rPr>
              <a:t>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0000" y="3350000"/>
            <a:ext cx="80000" cy="35000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0000" y="3300000"/>
            <a:ext cx="1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Hunter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000" y="330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10.60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0000" y="330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+1.78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0000" y="330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8.18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0000" y="3830000"/>
            <a:ext cx="80000" cy="3500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0000" y="3780000"/>
            <a:ext cx="1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Traveler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378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10.97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0000" y="378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−0.03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0000" y="378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1.86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0000" y="4310000"/>
            <a:ext cx="80000" cy="35000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0000" y="4260000"/>
            <a:ext cx="1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Camper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0000" y="426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15.00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0000" y="426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−0.75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0000" y="426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1.18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0000" y="4790000"/>
            <a:ext cx="80000" cy="35000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0000" y="4740000"/>
            <a:ext cx="1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Sniper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0000" y="474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19.16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0000" y="474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−0.81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0000" y="4740000"/>
            <a:ext cx="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2.79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0000" y="5650000"/>
            <a:ext cx="37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B0BEC5"/>
                </a:solidFill>
                <a:latin typeface="Segoe UI Semibold"/>
              </a:rPr>
              <a:t>Sniper worst: short survival (555 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Result  —  Strategy as a Phase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450000"/>
            <a:ext cx="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0BEC5"/>
                </a:solidFill>
                <a:latin typeface="Segoe UI Semibold"/>
              </a:rPr>
              <a:t>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2000" y="1450000"/>
            <a:ext cx="1870000" cy="5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62000" y="145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F5350"/>
                </a:solidFill>
                <a:latin typeface="Segoe UI Semibold"/>
              </a:rPr>
              <a:t>Hunter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2000" y="1450000"/>
            <a:ext cx="1870000" cy="5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2000" y="145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6F00"/>
                </a:solidFill>
                <a:latin typeface="Segoe UI Semibold"/>
              </a:rPr>
              <a:t>Sniper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2000" y="1450000"/>
            <a:ext cx="1870000" cy="5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62000" y="145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2A5F5"/>
                </a:solidFill>
                <a:latin typeface="Segoe UI Semibold"/>
              </a:rPr>
              <a:t>Traveler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2000" y="1450000"/>
            <a:ext cx="1870000" cy="500000"/>
          </a:xfrm>
          <a:prstGeom prst="rect">
            <a:avLst/>
          </a:prstGeom>
          <a:solidFill>
            <a:srgbClr val="1B2838"/>
          </a:solidFill>
          <a:ln w="63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2000" y="145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6BB6A"/>
                </a:solidFill>
                <a:latin typeface="Segoe UI Semibold"/>
              </a:rPr>
              <a:t>Camper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950000"/>
            <a:ext cx="8400000" cy="48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2000" y="1950000"/>
            <a:ext cx="8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2000" y="19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13.30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000" y="21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2000" y="19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18.63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2000" y="21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−0.67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000" y="19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9.79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2000" y="21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+0.43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2000" y="19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12.63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2000" y="21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−0.05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430000"/>
            <a:ext cx="8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2000" y="24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7.85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2000" y="26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2000" y="24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10.99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2000" y="26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+0.58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2000" y="24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7.04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2000" y="26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2000" y="24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9.27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2000" y="26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+0.52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000" y="2910000"/>
            <a:ext cx="8400000" cy="48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2000" y="2910000"/>
            <a:ext cx="8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2000" y="29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6.50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2000" y="31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+2.27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2000" y="29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8.43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62000" y="31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2000" y="29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6.26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62000" y="31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2000" y="29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7.45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2000" y="31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+0.91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3390000"/>
            <a:ext cx="8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2000" y="33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5.24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2000" y="36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+2.76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62000" y="33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6.73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62000" y="36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+1.67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2000" y="33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5.40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62000" y="36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2000" y="33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6.30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2000" y="363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+1.21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2000" y="3870000"/>
            <a:ext cx="8400000" cy="48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2000" y="3870000"/>
            <a:ext cx="8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62000" y="38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3.69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62000" y="41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+3.38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2000" y="38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5.03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62000" y="41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+2.32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62000" y="38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4.04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62000" y="41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+2.06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2000" y="387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5.15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2000" y="411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+1.52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" y="4350000"/>
            <a:ext cx="80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CF1"/>
                </a:solidFill>
                <a:latin typeface="Segoe UI Semibold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92000" y="4390000"/>
            <a:ext cx="1810000" cy="400000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562000" y="43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2.56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62000" y="45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+4.07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62000" y="43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3.36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00" y="45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+3.08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62000" y="43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2.71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62000" y="45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+2.87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2000" y="435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rank 3.50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2000" y="4590000"/>
            <a:ext cx="19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8ECF1"/>
                </a:solidFill>
                <a:latin typeface="Segoe UI Semibold"/>
              </a:rPr>
              <a:t>RP +2.14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00000" y="1450000"/>
            <a:ext cx="2350000" cy="6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300000" y="1530000"/>
            <a:ext cx="235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ECF1"/>
                </a:solidFill>
                <a:latin typeface="Segoe UI Semibold"/>
              </a:rPr>
              <a:t>Type is a phase STATE, not a personality.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00000" y="2900000"/>
            <a:ext cx="2350000" cy="2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Phase 1 — Traveler wins survival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Phase 2-5 — Hunter pulls ahead on RP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Phase 6 Hunter: rank 2.56, RP +4.07, kills 11.9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Top transitions: Traveler → Hunter / Sniper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B0BEC5"/>
                </a:solidFill>
                <a:latin typeface="Segoe UI Semibold"/>
              </a:rPr>
              <a:t>•  Same team can be Hunter at p3, Sniper at p4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80000"/>
            <a:ext cx="12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00BCD4"/>
                </a:solidFill>
                <a:latin typeface="Segoe UI Semibold"/>
              </a:rPr>
              <a:t>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0000" y="460000"/>
            <a:ext cx="97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CF1"/>
                </a:solidFill>
                <a:latin typeface="Segoe UI Semibold"/>
              </a:rPr>
              <a:t>Limitations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30000"/>
            <a:ext cx="10670000" cy="35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500000"/>
            <a:ext cx="5300000" cy="45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2000" y="1750000"/>
            <a:ext cx="48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6F00"/>
                </a:solidFill>
                <a:latin typeface="Segoe UI Semibold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2000" y="2550000"/>
            <a:ext cx="480000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RP formula not public — proxy only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Features limited to those already computed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No intra-phase 10s resolution (phase = smallest unit)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Causality between centrality and rank not isolated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Single map (Baltic_Main) and mode (squad)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5000" y="1700000"/>
            <a:ext cx="6000" cy="4100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62000" y="1500000"/>
            <a:ext cx="5300000" cy="4500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2000" y="1750000"/>
            <a:ext cx="48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BCD4"/>
                </a:solidFill>
                <a:latin typeface="Segoe UI Semibold"/>
              </a:rPr>
              <a:t>Contributions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2000" y="2550000"/>
            <a:ext cx="480000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Extends Sagong et al. (2025) 4-type framework: player → team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Lifts post-game stats to live 10s telemetry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Adds combat-NETWORK structure (Louvain, PageRank, bridge)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Phase-dynamic STATE with transition patterns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E8ECF1"/>
                </a:solidFill>
                <a:latin typeface="Segoe UI Semibold"/>
              </a:rPr>
              <a:t>•  Battle-bridge &amp; PageRank empirically tied to final rank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3719</Words>
  <Application>Microsoft Macintosh PowerPoint</Application>
  <PresentationFormat>와이드스크린</PresentationFormat>
  <Paragraphs>388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Menlo</vt:lpstr>
      <vt:lpstr>Segoe UI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백성은</cp:lastModifiedBy>
  <cp:revision>3</cp:revision>
  <dcterms:created xsi:type="dcterms:W3CDTF">2013-01-27T09:14:16Z</dcterms:created>
  <dcterms:modified xsi:type="dcterms:W3CDTF">2026-05-04T03:44:17Z</dcterms:modified>
  <cp:category/>
</cp:coreProperties>
</file>